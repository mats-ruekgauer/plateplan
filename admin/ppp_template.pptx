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1" r:id="rId2"/>
    <p:sldId id="260" r:id="rId3"/>
    <p:sldId id="262" r:id="rId4"/>
    <p:sldId id="264" r:id="rId5"/>
    <p:sldId id="266" r:id="rId6"/>
    <p:sldId id="268" r:id="rId7"/>
    <p:sldId id="27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82"/>
  </p:normalViewPr>
  <p:slideViewPr>
    <p:cSldViewPr snapToGrid="0" showGuides="1">
      <p:cViewPr>
        <p:scale>
          <a:sx n="73" d="100"/>
          <a:sy n="73" d="100"/>
        </p:scale>
        <p:origin x="592" y="9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C7646-D8A2-8F89-0402-85F16C28C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4BA4F7-9C4A-C614-32D6-27BED573C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8A1AD2-44EB-C6D4-0EC7-846BDD86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E9160E-0F44-1B30-6832-5D526631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BF812A-C32A-0839-9CA1-95EBA0E1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21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3037C-74EC-289B-F93B-CC1EBF8F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F2CF05-B549-2B83-48EA-2EAE4208E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714961-08DD-D006-CA46-03735A49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054E37-8067-FFA7-AFDC-D2EAB952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88BF29-94FE-9FF5-274A-2B09437E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ED718-18DC-11AD-8ACE-AA84BA96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F28FA6-9805-BFDC-546F-AC253641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DBD66-DE7A-5B39-F366-0E1E77E4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00AC83-4140-3D33-8A01-F4541A1A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78A13A-E01F-0226-79FD-91D62D61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1E86F-9328-F1DB-7C80-6EB61189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9820CC-3FF5-BC26-9A8F-30A84EAE8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49C1F8-E257-94B1-3C5A-A80567676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2364A7-5955-7040-75B2-F31C707F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955B86-7935-8EF2-FDA8-1B67283A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F56B8F-2380-D0D1-7530-F240FC70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0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20C43-CC64-D75C-9E7C-43E5A972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6C47B6-0E3B-8FA2-513E-C56A7AD2B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8FAE94-5556-B22D-01EB-6A1EB0B2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2BDCBBB-CC8F-7F39-F424-673A8139F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E57467-5C15-E394-0CCF-EFBC25C02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3DB28-8685-011E-BF9E-F1B2D7D7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05C38D-0347-8AB1-1297-8E09D87D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2083CC9-FB9B-EE50-8194-332F74E8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2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ED9EC-0405-4966-ADAB-6C3A8394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53D2B6-5560-661E-FBBF-EA0A05A95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01A167-2EBD-02B6-181E-92339DBE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62F390-309C-CCAE-0A95-6B6ACDB7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4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7C442EF-9C8F-A8CA-85A7-8AFB34C1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0FC33B9-F4FB-39CE-02A0-ECB31A8E1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7C254-F6AB-B673-6930-6FC28F1A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94BDA6-B656-4272-E7D8-8A16956A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0804E8-9792-9698-6641-80204BF70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E7F9DC9-EDC6-C3F0-B2C8-54BB1753F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239458-DC43-BF94-9167-5366C3B5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8718A8-C278-96B2-104B-4D75F071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4D9EF1-CCDF-9CBB-167F-EC5D51B2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8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9F288-8890-2838-F505-162FCBAC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318D989-A2F8-364E-6D51-75BB37AD9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7FA681-197B-418D-683E-869DF075B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3E32F5-C5C8-17FD-F1A3-866CD2FD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6609F1-188A-B9B1-02F4-B956CC80A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678E14-B0EA-5445-6080-65CB23B5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CEE905-2600-9481-1CF2-090A3AF3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E8A83D8-C608-F46A-88B7-16AD8C946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37B442-0C0C-6279-F7C8-10C2A6A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C8E4E8-8300-4742-9167-DDD5EDB6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6C86CD-065F-22D1-4230-94A2CE1B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1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98138F-252F-6F07-0DA7-ADECF9BCD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791465-04E8-5546-3C83-1F22AE510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32B996-A80F-3EE0-B627-FAEF64F9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01827D-2782-FD40-75C8-F826C617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420FCF-360D-C542-154C-1E4F291C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9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1F534B3-5E20-ABA8-F6AA-2A4FCCC3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469749-8DDD-E180-8CE4-DE1B24A8D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A31B7A-FD08-497D-4EDA-B5E8A646B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A4C16-4777-224B-852E-0F79E863EF57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6E4D99-0F68-C76F-A183-FDA1BDC14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6D8CA1-4CB0-EA19-7898-58BB88E38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EAB0F-D05C-9542-8A36-766E942CDCCD}" type="slidenum">
              <a:rPr lang="en-US" smtClean="0"/>
              <a:t>‹Nr.›</a:t>
            </a:fld>
            <a:endParaRPr lang="en-US"/>
          </a:p>
        </p:txBody>
      </p:sp>
      <p:sp>
        <p:nvSpPr>
          <p:cNvPr id="900" name="BottomAccent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gradFill>
            <a:gsLst>
              <a:gs pos="0">
                <a:srgbClr val="2D6A4F"/>
              </a:gs>
              <a:gs pos="50000">
                <a:srgbClr val="52B788"/>
              </a:gs>
              <a:gs pos="100000">
                <a:srgbClr val="D8F3DC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Corner"/>
          <p:cNvSpPr/>
          <p:nvPr userDrawn="1"/>
        </p:nvSpPr>
        <p:spPr>
          <a:xfrm>
            <a:off x="10972800" y="0"/>
            <a:ext cx="1219200" cy="1219200"/>
          </a:xfrm>
          <a:prstGeom prst="rtTriangle">
            <a:avLst/>
          </a:prstGeom>
          <a:solidFill>
            <a:srgbClr val="D8F3DC">
              <a:alpha val="3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7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500" kern="1200">
          <a:solidFill>
            <a:srgbClr val="6B728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3C34"/>
            </a:gs>
            <a:gs pos="60000">
              <a:srgbClr val="2D6A4F"/>
            </a:gs>
            <a:gs pos="100000">
              <a:srgbClr val="3D8B6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Circle"/>
          <p:cNvSpPr/>
          <p:nvPr/>
        </p:nvSpPr>
        <p:spPr>
          <a:xfrm>
            <a:off x="8686800" y="-457200"/>
            <a:ext cx="2743200" cy="2743200"/>
          </a:xfrm>
          <a:prstGeom prst="ellipse">
            <a:avLst/>
          </a:prstGeom>
          <a:solidFill>
            <a:srgbClr val="52B788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oCircle2"/>
          <p:cNvSpPr/>
          <p:nvPr/>
        </p:nvSpPr>
        <p:spPr>
          <a:xfrm>
            <a:off x="-457200" y="4572000"/>
            <a:ext cx="1828800" cy="1828800"/>
          </a:xfrm>
          <a:prstGeom prst="ellipse">
            <a:avLst/>
          </a:prstGeom>
          <a:solidFill>
            <a:srgbClr val="D8F3DC">
              <a:alpha val="1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AccentLine"/>
          <p:cNvSpPr/>
          <p:nvPr/>
        </p:nvSpPr>
        <p:spPr>
          <a:xfrm>
            <a:off x="457200" y="3200400"/>
            <a:ext cx="2286000" cy="36576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itle"/>
          <p:cNvSpPr/>
          <p:nvPr/>
        </p:nvSpPr>
        <p:spPr>
          <a:xfrm>
            <a:off x="457200" y="1600200"/>
            <a:ext cx="8229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Inter"/>
              </a:rPr>
              <a:t>PlatePlan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2362200"/>
            <a:ext cx="8229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dirty="0">
                <a:solidFill>
                  <a:srgbClr val="D8F3DC"/>
                </a:solidFill>
                <a:latin typeface="Inter"/>
              </a:rPr>
              <a:t>UI Design Tokens</a:t>
            </a:r>
          </a:p>
        </p:txBody>
      </p:sp>
      <p:sp>
        <p:nvSpPr>
          <p:cNvPr id="15" name="Desc"/>
          <p:cNvSpPr/>
          <p:nvPr/>
        </p:nvSpPr>
        <p:spPr>
          <a:xfrm>
            <a:off x="457200" y="3352800"/>
            <a:ext cx="6858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95D0B0"/>
                </a:solidFill>
                <a:latin typeface="Inter"/>
              </a:rPr>
              <a:t>Complete visual language for the PlatePlan meal planning app.</a:t>
            </a:r>
          </a:p>
          <a:p>
            <a:pPr algn="l">
              <a:buNone/>
            </a:pPr>
            <a:r>
              <a:rPr lang="en-US" sz="1500" dirty="0">
                <a:solidFill>
                  <a:srgbClr val="95D0B0"/>
                </a:solidFill>
                <a:latin typeface="Inter"/>
              </a:rPr>
              <a:t>NativeWind 4  •  React Native  •  constants/theme.ts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57200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50000"/>
              </a:srgbClr>
            </a:solidFill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Inter"/>
              </a:rPr>
              <a:t>v1.0 • Design Tokens</a:t>
            </a:r>
          </a:p>
        </p:txBody>
      </p:sp>
    </p:spTree>
    <p:extLst>
      <p:ext uri="{BB962C8B-B14F-4D97-AF65-F5344CB8AC3E}">
        <p14:creationId xmlns:p14="http://schemas.microsoft.com/office/powerpoint/2010/main" val="209747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20"/>
          <p:cNvSpPr/>
          <p:nvPr/>
        </p:nvSpPr>
        <p:spPr>
          <a:xfrm>
            <a:off x="457200" y="304800"/>
            <a:ext cx="112776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b"/>
          <a:lstStyle/>
          <a:p>
            <a:pPr algn="l">
              <a:buNone/>
            </a:pPr>
            <a:r>
              <a:rPr lang="en-US" sz="2800" b="1" dirty="0">
                <a:solidFill>
                  <a:srgbClr val="1A1A2E"/>
                </a:solidFill>
                <a:latin typeface="Inter"/>
              </a:rPr>
              <a:t>Color Palette</a:t>
            </a:r>
          </a:p>
        </p:txBody>
      </p:sp>
      <p:sp>
        <p:nvSpPr>
          <p:cNvPr id="21" name="S21"/>
          <p:cNvSpPr/>
          <p:nvPr/>
        </p:nvSpPr>
        <p:spPr>
          <a:xfrm>
            <a:off x="457200" y="863600"/>
            <a:ext cx="762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300" dirty="0">
                <a:solidFill>
                  <a:srgbClr val="6B7280"/>
                </a:solidFill>
                <a:latin typeface="Inter"/>
              </a:rPr>
              <a:t>Brand, surface, text, and semantic color tokens</a:t>
            </a:r>
          </a:p>
        </p:txBody>
      </p:sp>
      <p:sp>
        <p:nvSpPr>
          <p:cNvPr id="22" name="S22"/>
          <p:cNvSpPr/>
          <p:nvPr/>
        </p:nvSpPr>
        <p:spPr>
          <a:xfrm>
            <a:off x="457200" y="13335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PRIMARY</a:t>
            </a:r>
          </a:p>
        </p:txBody>
      </p:sp>
      <p:sp>
        <p:nvSpPr>
          <p:cNvPr id="23" name="S23"/>
          <p:cNvSpPr/>
          <p:nvPr/>
        </p:nvSpPr>
        <p:spPr>
          <a:xfrm>
            <a:off x="457200" y="1689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#2D6A4F</a:t>
            </a:r>
          </a:p>
        </p:txBody>
      </p:sp>
      <p:sp>
        <p:nvSpPr>
          <p:cNvPr id="24" name="S24"/>
          <p:cNvSpPr/>
          <p:nvPr/>
        </p:nvSpPr>
        <p:spPr>
          <a:xfrm>
            <a:off x="457200" y="2451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primary</a:t>
            </a:r>
          </a:p>
        </p:txBody>
      </p:sp>
      <p:sp>
        <p:nvSpPr>
          <p:cNvPr id="25" name="S25"/>
          <p:cNvSpPr/>
          <p:nvPr/>
        </p:nvSpPr>
        <p:spPr>
          <a:xfrm>
            <a:off x="2311400" y="1689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#52B788</a:t>
            </a:r>
          </a:p>
        </p:txBody>
      </p:sp>
      <p:sp>
        <p:nvSpPr>
          <p:cNvPr id="26" name="S26"/>
          <p:cNvSpPr/>
          <p:nvPr/>
        </p:nvSpPr>
        <p:spPr>
          <a:xfrm>
            <a:off x="2311400" y="2451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primaryLight</a:t>
            </a:r>
          </a:p>
        </p:txBody>
      </p:sp>
      <p:sp>
        <p:nvSpPr>
          <p:cNvPr id="27" name="S27"/>
          <p:cNvSpPr/>
          <p:nvPr/>
        </p:nvSpPr>
        <p:spPr>
          <a:xfrm>
            <a:off x="4165600" y="1689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1A1A2E"/>
                </a:solidFill>
                <a:latin typeface="Inter"/>
              </a:rPr>
              <a:t>#D8F3DC</a:t>
            </a:r>
          </a:p>
        </p:txBody>
      </p:sp>
      <p:sp>
        <p:nvSpPr>
          <p:cNvPr id="28" name="S28"/>
          <p:cNvSpPr/>
          <p:nvPr/>
        </p:nvSpPr>
        <p:spPr>
          <a:xfrm>
            <a:off x="4165600" y="2451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primaryXLight</a:t>
            </a:r>
          </a:p>
        </p:txBody>
      </p:sp>
      <p:sp>
        <p:nvSpPr>
          <p:cNvPr id="29" name="S29"/>
          <p:cNvSpPr/>
          <p:nvPr/>
        </p:nvSpPr>
        <p:spPr>
          <a:xfrm>
            <a:off x="457200" y="27051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SURFACES</a:t>
            </a:r>
          </a:p>
        </p:txBody>
      </p:sp>
      <p:sp>
        <p:nvSpPr>
          <p:cNvPr id="30" name="S30"/>
          <p:cNvSpPr/>
          <p:nvPr/>
        </p:nvSpPr>
        <p:spPr>
          <a:xfrm>
            <a:off x="457200" y="30607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1A1A2E"/>
                </a:solidFill>
                <a:latin typeface="Inter"/>
              </a:rPr>
              <a:t>#FFFFFF</a:t>
            </a:r>
          </a:p>
        </p:txBody>
      </p:sp>
      <p:sp>
        <p:nvSpPr>
          <p:cNvPr id="31" name="S31"/>
          <p:cNvSpPr/>
          <p:nvPr/>
        </p:nvSpPr>
        <p:spPr>
          <a:xfrm>
            <a:off x="457200" y="38227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surface</a:t>
            </a:r>
          </a:p>
        </p:txBody>
      </p:sp>
      <p:sp>
        <p:nvSpPr>
          <p:cNvPr id="32" name="S32"/>
          <p:cNvSpPr/>
          <p:nvPr/>
        </p:nvSpPr>
        <p:spPr>
          <a:xfrm>
            <a:off x="2311400" y="30607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1A1A2E"/>
                </a:solidFill>
                <a:latin typeface="Inter"/>
              </a:rPr>
              <a:t>#F8F9FA</a:t>
            </a:r>
          </a:p>
        </p:txBody>
      </p:sp>
      <p:sp>
        <p:nvSpPr>
          <p:cNvPr id="33" name="S33"/>
          <p:cNvSpPr/>
          <p:nvPr/>
        </p:nvSpPr>
        <p:spPr>
          <a:xfrm>
            <a:off x="2311400" y="38227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surfaceSecondary</a:t>
            </a:r>
          </a:p>
        </p:txBody>
      </p:sp>
      <p:sp>
        <p:nvSpPr>
          <p:cNvPr id="34" name="S34"/>
          <p:cNvSpPr/>
          <p:nvPr/>
        </p:nvSpPr>
        <p:spPr>
          <a:xfrm>
            <a:off x="6350000" y="13335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TEXT</a:t>
            </a:r>
          </a:p>
        </p:txBody>
      </p:sp>
      <p:sp>
        <p:nvSpPr>
          <p:cNvPr id="35" name="S35"/>
          <p:cNvSpPr/>
          <p:nvPr/>
        </p:nvSpPr>
        <p:spPr>
          <a:xfrm>
            <a:off x="6350000" y="1689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#1A1A2E</a:t>
            </a:r>
          </a:p>
        </p:txBody>
      </p:sp>
      <p:sp>
        <p:nvSpPr>
          <p:cNvPr id="36" name="S36"/>
          <p:cNvSpPr/>
          <p:nvPr/>
        </p:nvSpPr>
        <p:spPr>
          <a:xfrm>
            <a:off x="6350000" y="2451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textPrimary</a:t>
            </a:r>
          </a:p>
        </p:txBody>
      </p:sp>
      <p:sp>
        <p:nvSpPr>
          <p:cNvPr id="37" name="S37"/>
          <p:cNvSpPr/>
          <p:nvPr/>
        </p:nvSpPr>
        <p:spPr>
          <a:xfrm>
            <a:off x="8204200" y="1689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#6B7280</a:t>
            </a:r>
          </a:p>
        </p:txBody>
      </p:sp>
      <p:sp>
        <p:nvSpPr>
          <p:cNvPr id="38" name="S38"/>
          <p:cNvSpPr/>
          <p:nvPr/>
        </p:nvSpPr>
        <p:spPr>
          <a:xfrm>
            <a:off x="8204200" y="2451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textSecondary</a:t>
            </a:r>
          </a:p>
        </p:txBody>
      </p:sp>
      <p:sp>
        <p:nvSpPr>
          <p:cNvPr id="39" name="S39"/>
          <p:cNvSpPr/>
          <p:nvPr/>
        </p:nvSpPr>
        <p:spPr>
          <a:xfrm>
            <a:off x="10058400" y="1689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9CA3AF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#9CA3AF</a:t>
            </a:r>
          </a:p>
        </p:txBody>
      </p:sp>
      <p:sp>
        <p:nvSpPr>
          <p:cNvPr id="40" name="S40"/>
          <p:cNvSpPr/>
          <p:nvPr/>
        </p:nvSpPr>
        <p:spPr>
          <a:xfrm>
            <a:off x="10058400" y="2451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textMuted</a:t>
            </a:r>
          </a:p>
        </p:txBody>
      </p:sp>
      <p:sp>
        <p:nvSpPr>
          <p:cNvPr id="41" name="S41"/>
          <p:cNvSpPr/>
          <p:nvPr/>
        </p:nvSpPr>
        <p:spPr>
          <a:xfrm>
            <a:off x="6350000" y="27051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BORDERS</a:t>
            </a:r>
          </a:p>
        </p:txBody>
      </p:sp>
      <p:sp>
        <p:nvSpPr>
          <p:cNvPr id="42" name="S42"/>
          <p:cNvSpPr/>
          <p:nvPr/>
        </p:nvSpPr>
        <p:spPr>
          <a:xfrm>
            <a:off x="6350000" y="30607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#E5E7EB</a:t>
            </a:r>
          </a:p>
        </p:txBody>
      </p:sp>
      <p:sp>
        <p:nvSpPr>
          <p:cNvPr id="43" name="S43"/>
          <p:cNvSpPr/>
          <p:nvPr/>
        </p:nvSpPr>
        <p:spPr>
          <a:xfrm>
            <a:off x="6350000" y="38227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border</a:t>
            </a:r>
          </a:p>
        </p:txBody>
      </p:sp>
      <p:sp>
        <p:nvSpPr>
          <p:cNvPr id="44" name="S44"/>
          <p:cNvSpPr/>
          <p:nvPr/>
        </p:nvSpPr>
        <p:spPr>
          <a:xfrm>
            <a:off x="457200" y="41275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STATUS</a:t>
            </a:r>
          </a:p>
        </p:txBody>
      </p:sp>
      <p:sp>
        <p:nvSpPr>
          <p:cNvPr id="45" name="S45"/>
          <p:cNvSpPr/>
          <p:nvPr/>
        </p:nvSpPr>
        <p:spPr>
          <a:xfrm>
            <a:off x="457200" y="4483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#DC2626</a:t>
            </a:r>
          </a:p>
        </p:txBody>
      </p:sp>
      <p:sp>
        <p:nvSpPr>
          <p:cNvPr id="46" name="S46"/>
          <p:cNvSpPr/>
          <p:nvPr/>
        </p:nvSpPr>
        <p:spPr>
          <a:xfrm>
            <a:off x="457200" y="5245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danger</a:t>
            </a:r>
          </a:p>
        </p:txBody>
      </p:sp>
      <p:sp>
        <p:nvSpPr>
          <p:cNvPr id="47" name="S47"/>
          <p:cNvSpPr/>
          <p:nvPr/>
        </p:nvSpPr>
        <p:spPr>
          <a:xfrm>
            <a:off x="2311400" y="4483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#D97706</a:t>
            </a:r>
          </a:p>
        </p:txBody>
      </p:sp>
      <p:sp>
        <p:nvSpPr>
          <p:cNvPr id="48" name="S48"/>
          <p:cNvSpPr/>
          <p:nvPr/>
        </p:nvSpPr>
        <p:spPr>
          <a:xfrm>
            <a:off x="2311400" y="5245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warning</a:t>
            </a:r>
          </a:p>
        </p:txBody>
      </p:sp>
      <p:sp>
        <p:nvSpPr>
          <p:cNvPr id="49" name="S49"/>
          <p:cNvSpPr/>
          <p:nvPr/>
        </p:nvSpPr>
        <p:spPr>
          <a:xfrm>
            <a:off x="4165600" y="4483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#16A34A</a:t>
            </a:r>
          </a:p>
        </p:txBody>
      </p:sp>
      <p:sp>
        <p:nvSpPr>
          <p:cNvPr id="50" name="S50"/>
          <p:cNvSpPr/>
          <p:nvPr/>
        </p:nvSpPr>
        <p:spPr>
          <a:xfrm>
            <a:off x="4165600" y="5245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success</a:t>
            </a:r>
          </a:p>
        </p:txBody>
      </p:sp>
      <p:sp>
        <p:nvSpPr>
          <p:cNvPr id="51" name="S51"/>
          <p:cNvSpPr/>
          <p:nvPr/>
        </p:nvSpPr>
        <p:spPr>
          <a:xfrm>
            <a:off x="6350000" y="41275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NUTRITION BADGES</a:t>
            </a:r>
          </a:p>
        </p:txBody>
      </p:sp>
      <p:sp>
        <p:nvSpPr>
          <p:cNvPr id="52" name="S52"/>
          <p:cNvSpPr/>
          <p:nvPr/>
        </p:nvSpPr>
        <p:spPr>
          <a:xfrm>
            <a:off x="6350000" y="4483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#F59E0B</a:t>
            </a:r>
          </a:p>
        </p:txBody>
      </p:sp>
      <p:sp>
        <p:nvSpPr>
          <p:cNvPr id="53" name="S53"/>
          <p:cNvSpPr/>
          <p:nvPr/>
        </p:nvSpPr>
        <p:spPr>
          <a:xfrm>
            <a:off x="6350000" y="5245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calorie</a:t>
            </a:r>
          </a:p>
        </p:txBody>
      </p:sp>
      <p:sp>
        <p:nvSpPr>
          <p:cNvPr id="54" name="S54"/>
          <p:cNvSpPr/>
          <p:nvPr/>
        </p:nvSpPr>
        <p:spPr>
          <a:xfrm>
            <a:off x="8204200" y="4483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#3B82F6</a:t>
            </a:r>
          </a:p>
        </p:txBody>
      </p:sp>
      <p:sp>
        <p:nvSpPr>
          <p:cNvPr id="55" name="S55"/>
          <p:cNvSpPr/>
          <p:nvPr/>
        </p:nvSpPr>
        <p:spPr>
          <a:xfrm>
            <a:off x="8204200" y="5245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protein</a:t>
            </a:r>
          </a:p>
        </p:txBody>
      </p:sp>
      <p:sp>
        <p:nvSpPr>
          <p:cNvPr id="56" name="S56"/>
          <p:cNvSpPr/>
          <p:nvPr/>
        </p:nvSpPr>
        <p:spPr>
          <a:xfrm>
            <a:off x="10058400" y="44831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#8B5CF6</a:t>
            </a:r>
          </a:p>
        </p:txBody>
      </p:sp>
      <p:sp>
        <p:nvSpPr>
          <p:cNvPr id="57" name="S57"/>
          <p:cNvSpPr/>
          <p:nvPr/>
        </p:nvSpPr>
        <p:spPr>
          <a:xfrm>
            <a:off x="10058400" y="52451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carbs</a:t>
            </a:r>
          </a:p>
        </p:txBody>
      </p:sp>
    </p:spTree>
    <p:extLst>
      <p:ext uri="{BB962C8B-B14F-4D97-AF65-F5344CB8AC3E}">
        <p14:creationId xmlns:p14="http://schemas.microsoft.com/office/powerpoint/2010/main" val="194709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457200" y="304800"/>
            <a:ext cx="112776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2800" b="1" dirty="0">
                <a:solidFill>
                  <a:srgbClr val="1A1A2E"/>
                </a:solidFill>
                <a:latin typeface="Inter"/>
              </a:rPr>
              <a:t>Typography</a:t>
            </a:r>
          </a:p>
        </p:txBody>
      </p:sp>
      <p:sp>
        <p:nvSpPr>
          <p:cNvPr id="101" name="S101"/>
          <p:cNvSpPr/>
          <p:nvPr/>
        </p:nvSpPr>
        <p:spPr>
          <a:xfrm>
            <a:off x="457200" y="863600"/>
            <a:ext cx="762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7280"/>
                </a:solidFill>
                <a:latin typeface="Inter"/>
              </a:rPr>
              <a:t>Font family: Inter  ·  Size scale and weight tokens</a:t>
            </a:r>
          </a:p>
        </p:txBody>
      </p:sp>
      <p:sp>
        <p:nvSpPr>
          <p:cNvPr id="102" name="S102"/>
          <p:cNvSpPr/>
          <p:nvPr/>
        </p:nvSpPr>
        <p:spPr>
          <a:xfrm>
            <a:off x="457200" y="1333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FONT SIZES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6510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xxxl</a:t>
            </a:r>
          </a:p>
        </p:txBody>
      </p:sp>
      <p:sp>
        <p:nvSpPr>
          <p:cNvPr id="104" name="S104"/>
          <p:cNvSpPr/>
          <p:nvPr/>
        </p:nvSpPr>
        <p:spPr>
          <a:xfrm>
            <a:off x="1270000" y="16510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32 pt</a:t>
            </a:r>
          </a:p>
        </p:txBody>
      </p:sp>
      <p:sp>
        <p:nvSpPr>
          <p:cNvPr id="105" name="S105"/>
          <p:cNvSpPr/>
          <p:nvPr/>
        </p:nvSpPr>
        <p:spPr>
          <a:xfrm>
            <a:off x="1968500" y="16256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32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06" name="S106"/>
          <p:cNvSpPr/>
          <p:nvPr/>
        </p:nvSpPr>
        <p:spPr>
          <a:xfrm>
            <a:off x="457200" y="21844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xxl</a:t>
            </a:r>
          </a:p>
        </p:txBody>
      </p:sp>
      <p:sp>
        <p:nvSpPr>
          <p:cNvPr id="107" name="S107"/>
          <p:cNvSpPr/>
          <p:nvPr/>
        </p:nvSpPr>
        <p:spPr>
          <a:xfrm>
            <a:off x="1270000" y="21844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26 pt</a:t>
            </a:r>
          </a:p>
        </p:txBody>
      </p:sp>
      <p:sp>
        <p:nvSpPr>
          <p:cNvPr id="108" name="S108"/>
          <p:cNvSpPr/>
          <p:nvPr/>
        </p:nvSpPr>
        <p:spPr>
          <a:xfrm>
            <a:off x="1968500" y="21590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6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09" name="S109"/>
          <p:cNvSpPr/>
          <p:nvPr/>
        </p:nvSpPr>
        <p:spPr>
          <a:xfrm>
            <a:off x="457200" y="27178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xl</a:t>
            </a:r>
          </a:p>
        </p:txBody>
      </p:sp>
      <p:sp>
        <p:nvSpPr>
          <p:cNvPr id="110" name="S110"/>
          <p:cNvSpPr/>
          <p:nvPr/>
        </p:nvSpPr>
        <p:spPr>
          <a:xfrm>
            <a:off x="1270000" y="27178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20 pt</a:t>
            </a:r>
          </a:p>
        </p:txBody>
      </p:sp>
      <p:sp>
        <p:nvSpPr>
          <p:cNvPr id="111" name="S111"/>
          <p:cNvSpPr/>
          <p:nvPr/>
        </p:nvSpPr>
        <p:spPr>
          <a:xfrm>
            <a:off x="1968500" y="26924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12" name="S112"/>
          <p:cNvSpPr/>
          <p:nvPr/>
        </p:nvSpPr>
        <p:spPr>
          <a:xfrm>
            <a:off x="457200" y="32512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lg</a:t>
            </a:r>
          </a:p>
        </p:txBody>
      </p:sp>
      <p:sp>
        <p:nvSpPr>
          <p:cNvPr id="113" name="S113"/>
          <p:cNvSpPr/>
          <p:nvPr/>
        </p:nvSpPr>
        <p:spPr>
          <a:xfrm>
            <a:off x="1270000" y="32512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17 pt</a:t>
            </a:r>
          </a:p>
        </p:txBody>
      </p:sp>
      <p:sp>
        <p:nvSpPr>
          <p:cNvPr id="114" name="S114"/>
          <p:cNvSpPr/>
          <p:nvPr/>
        </p:nvSpPr>
        <p:spPr>
          <a:xfrm>
            <a:off x="1968500" y="32258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7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15" name="S115"/>
          <p:cNvSpPr/>
          <p:nvPr/>
        </p:nvSpPr>
        <p:spPr>
          <a:xfrm>
            <a:off x="457200" y="37084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md</a:t>
            </a:r>
          </a:p>
        </p:txBody>
      </p:sp>
      <p:sp>
        <p:nvSpPr>
          <p:cNvPr id="116" name="S116"/>
          <p:cNvSpPr/>
          <p:nvPr/>
        </p:nvSpPr>
        <p:spPr>
          <a:xfrm>
            <a:off x="1270000" y="37084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15 pt</a:t>
            </a:r>
          </a:p>
        </p:txBody>
      </p:sp>
      <p:sp>
        <p:nvSpPr>
          <p:cNvPr id="117" name="S117"/>
          <p:cNvSpPr/>
          <p:nvPr/>
        </p:nvSpPr>
        <p:spPr>
          <a:xfrm>
            <a:off x="1968500" y="36830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18" name="S118"/>
          <p:cNvSpPr/>
          <p:nvPr/>
        </p:nvSpPr>
        <p:spPr>
          <a:xfrm>
            <a:off x="457200" y="41656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sm</a:t>
            </a:r>
          </a:p>
        </p:txBody>
      </p:sp>
      <p:sp>
        <p:nvSpPr>
          <p:cNvPr id="119" name="S119"/>
          <p:cNvSpPr/>
          <p:nvPr/>
        </p:nvSpPr>
        <p:spPr>
          <a:xfrm>
            <a:off x="1270000" y="41656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13 pt</a:t>
            </a:r>
          </a:p>
        </p:txBody>
      </p:sp>
      <p:sp>
        <p:nvSpPr>
          <p:cNvPr id="120" name="S120"/>
          <p:cNvSpPr/>
          <p:nvPr/>
        </p:nvSpPr>
        <p:spPr>
          <a:xfrm>
            <a:off x="1968500" y="41402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21" name="S121"/>
          <p:cNvSpPr/>
          <p:nvPr/>
        </p:nvSpPr>
        <p:spPr>
          <a:xfrm>
            <a:off x="457200" y="4622800"/>
            <a:ext cx="762000" cy="3048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xs</a:t>
            </a:r>
          </a:p>
        </p:txBody>
      </p:sp>
      <p:sp>
        <p:nvSpPr>
          <p:cNvPr id="122" name="S122"/>
          <p:cNvSpPr/>
          <p:nvPr/>
        </p:nvSpPr>
        <p:spPr>
          <a:xfrm>
            <a:off x="1270000" y="4622800"/>
            <a:ext cx="63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11 pt</a:t>
            </a:r>
          </a:p>
        </p:txBody>
      </p:sp>
      <p:sp>
        <p:nvSpPr>
          <p:cNvPr id="123" name="S123"/>
          <p:cNvSpPr/>
          <p:nvPr/>
        </p:nvSpPr>
        <p:spPr>
          <a:xfrm>
            <a:off x="1968500" y="4597400"/>
            <a:ext cx="368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Inter"/>
              </a:rPr>
              <a:t>The quick brown fox</a:t>
            </a:r>
          </a:p>
        </p:txBody>
      </p:sp>
      <p:sp>
        <p:nvSpPr>
          <p:cNvPr id="124" name="S124"/>
          <p:cNvSpPr/>
          <p:nvPr/>
        </p:nvSpPr>
        <p:spPr>
          <a:xfrm>
            <a:off x="6350000" y="1333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FONT WEIGHTS</a:t>
            </a:r>
          </a:p>
        </p:txBody>
      </p:sp>
      <p:sp>
        <p:nvSpPr>
          <p:cNvPr id="125" name="S125"/>
          <p:cNvSpPr/>
          <p:nvPr/>
        </p:nvSpPr>
        <p:spPr>
          <a:xfrm>
            <a:off x="6350000" y="1714500"/>
            <a:ext cx="53340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txBody>
          <a:bodyPr wrap="square" lIns="137160" tIns="0" rIns="91440" bIns="0" anchor="ctr"/>
          <a:lstStyle/>
          <a:p>
            <a:pPr algn="l">
              <a:buNone/>
            </a:pPr>
            <a:r>
              <a:rPr lang="en-US" sz="1800" dirty="0">
                <a:solidFill>
                  <a:srgbClr val="1A1A2E"/>
                </a:solidFill>
                <a:latin typeface="Inter"/>
              </a:rPr>
              <a:t>Inter Regular 400</a:t>
            </a:r>
          </a:p>
        </p:txBody>
      </p:sp>
      <p:sp>
        <p:nvSpPr>
          <p:cNvPr id="126" name="S126"/>
          <p:cNvSpPr/>
          <p:nvPr/>
        </p:nvSpPr>
        <p:spPr>
          <a:xfrm>
            <a:off x="6477000" y="18923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400</a:t>
            </a:r>
          </a:p>
        </p:txBody>
      </p:sp>
      <p:sp>
        <p:nvSpPr>
          <p:cNvPr id="127" name="S127"/>
          <p:cNvSpPr/>
          <p:nvPr/>
        </p:nvSpPr>
        <p:spPr>
          <a:xfrm>
            <a:off x="6350000" y="2501900"/>
            <a:ext cx="53340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txBody>
          <a:bodyPr wrap="square" lIns="137160" tIns="0" rIns="91440" bIns="0" anchor="ctr"/>
          <a:lstStyle/>
          <a:p>
            <a:pPr algn="l">
              <a:buNone/>
            </a:pPr>
            <a:r>
              <a:rPr lang="en-US" sz="1800" dirty="0">
                <a:solidFill>
                  <a:srgbClr val="1A1A2E"/>
                </a:solidFill>
                <a:latin typeface="Inter"/>
              </a:rPr>
              <a:t>Inter Medium 500</a:t>
            </a:r>
          </a:p>
        </p:txBody>
      </p:sp>
      <p:sp>
        <p:nvSpPr>
          <p:cNvPr id="128" name="S128"/>
          <p:cNvSpPr/>
          <p:nvPr/>
        </p:nvSpPr>
        <p:spPr>
          <a:xfrm>
            <a:off x="6477000" y="26797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500</a:t>
            </a:r>
          </a:p>
        </p:txBody>
      </p:sp>
      <p:sp>
        <p:nvSpPr>
          <p:cNvPr id="129" name="S129"/>
          <p:cNvSpPr/>
          <p:nvPr/>
        </p:nvSpPr>
        <p:spPr>
          <a:xfrm>
            <a:off x="6350000" y="3289300"/>
            <a:ext cx="53340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txBody>
          <a:bodyPr wrap="square" lIns="137160" tIns="0" rIns="91440" bIns="0" anchor="ctr"/>
          <a:lstStyle/>
          <a:p>
            <a:pPr algn="l">
              <a:buNone/>
            </a:pPr>
            <a:r>
              <a:rPr lang="en-US" sz="1800" b="1" dirty="0">
                <a:solidFill>
                  <a:srgbClr val="1A1A2E"/>
                </a:solidFill>
                <a:latin typeface="Inter"/>
              </a:rPr>
              <a:t>Inter Semibold 600</a:t>
            </a:r>
          </a:p>
        </p:txBody>
      </p:sp>
      <p:sp>
        <p:nvSpPr>
          <p:cNvPr id="130" name="S130"/>
          <p:cNvSpPr/>
          <p:nvPr/>
        </p:nvSpPr>
        <p:spPr>
          <a:xfrm>
            <a:off x="6477000" y="3467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600</a:t>
            </a:r>
          </a:p>
        </p:txBody>
      </p:sp>
      <p:sp>
        <p:nvSpPr>
          <p:cNvPr id="131" name="S131"/>
          <p:cNvSpPr/>
          <p:nvPr/>
        </p:nvSpPr>
        <p:spPr>
          <a:xfrm>
            <a:off x="6350000" y="4076700"/>
            <a:ext cx="53340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txBody>
          <a:bodyPr wrap="square" lIns="137160" tIns="0" rIns="91440" bIns="0" anchor="ctr"/>
          <a:lstStyle/>
          <a:p>
            <a:pPr algn="l">
              <a:buNone/>
            </a:pPr>
            <a:r>
              <a:rPr lang="en-US" sz="1800" b="1" dirty="0">
                <a:solidFill>
                  <a:srgbClr val="1A1A2E"/>
                </a:solidFill>
                <a:latin typeface="Inter"/>
              </a:rPr>
              <a:t>Inter Bold 700</a:t>
            </a:r>
          </a:p>
        </p:txBody>
      </p:sp>
      <p:sp>
        <p:nvSpPr>
          <p:cNvPr id="132" name="S132"/>
          <p:cNvSpPr/>
          <p:nvPr/>
        </p:nvSpPr>
        <p:spPr>
          <a:xfrm>
            <a:off x="6477000" y="42545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700</a:t>
            </a:r>
          </a:p>
        </p:txBody>
      </p:sp>
      <p:sp>
        <p:nvSpPr>
          <p:cNvPr id="133" name="S133"/>
          <p:cNvSpPr/>
          <p:nvPr/>
        </p:nvSpPr>
        <p:spPr>
          <a:xfrm>
            <a:off x="457200" y="60960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D6A4F"/>
                </a:solidFill>
                <a:latin typeface="Inter"/>
              </a:rPr>
              <a:t>Tip: Use xxxl for hero headings, lg–md for body, sm–xs for captions and metadata</a:t>
            </a:r>
          </a:p>
        </p:txBody>
      </p:sp>
    </p:spTree>
    <p:extLst>
      <p:ext uri="{BB962C8B-B14F-4D97-AF65-F5344CB8AC3E}">
        <p14:creationId xmlns:p14="http://schemas.microsoft.com/office/powerpoint/2010/main" val="4174034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0"/>
          <p:cNvSpPr/>
          <p:nvPr/>
        </p:nvSpPr>
        <p:spPr>
          <a:xfrm>
            <a:off x="457200" y="304800"/>
            <a:ext cx="112776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2800" b="1" dirty="0">
                <a:solidFill>
                  <a:srgbClr val="1A1A2E"/>
                </a:solidFill>
                <a:latin typeface="Inter"/>
              </a:rPr>
              <a:t>Spacing &amp; Border Radius</a:t>
            </a:r>
          </a:p>
        </p:txBody>
      </p:sp>
      <p:sp>
        <p:nvSpPr>
          <p:cNvPr id="201" name="S201"/>
          <p:cNvSpPr/>
          <p:nvPr/>
        </p:nvSpPr>
        <p:spPr>
          <a:xfrm>
            <a:off x="457200" y="863600"/>
            <a:ext cx="762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7280"/>
                </a:solidFill>
                <a:latin typeface="Inter"/>
              </a:rPr>
              <a:t>Consistent spacing scale and corner radius tokens</a:t>
            </a:r>
          </a:p>
        </p:txBody>
      </p:sp>
      <p:sp>
        <p:nvSpPr>
          <p:cNvPr id="202" name="S202"/>
          <p:cNvSpPr/>
          <p:nvPr/>
        </p:nvSpPr>
        <p:spPr>
          <a:xfrm>
            <a:off x="457200" y="1333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SPACING SCALE</a:t>
            </a:r>
          </a:p>
        </p:txBody>
      </p:sp>
      <p:sp>
        <p:nvSpPr>
          <p:cNvPr id="203" name="S203"/>
          <p:cNvSpPr/>
          <p:nvPr/>
        </p:nvSpPr>
        <p:spPr>
          <a:xfrm>
            <a:off x="457200" y="1676400"/>
            <a:ext cx="609600" cy="330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xs</a:t>
            </a:r>
          </a:p>
        </p:txBody>
      </p:sp>
      <p:sp>
        <p:nvSpPr>
          <p:cNvPr id="204" name="S204"/>
          <p:cNvSpPr/>
          <p:nvPr/>
        </p:nvSpPr>
        <p:spPr>
          <a:xfrm>
            <a:off x="1143000" y="1676400"/>
            <a:ext cx="6096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4 px</a:t>
            </a:r>
          </a:p>
        </p:txBody>
      </p:sp>
      <p:sp>
        <p:nvSpPr>
          <p:cNvPr id="205" name="S205"/>
          <p:cNvSpPr/>
          <p:nvPr/>
        </p:nvSpPr>
        <p:spPr>
          <a:xfrm>
            <a:off x="1879600" y="1752600"/>
            <a:ext cx="254000" cy="177800"/>
          </a:xfrm>
          <a:prstGeom prst="roundRect">
            <a:avLst>
              <a:gd name="adj" fmla="val 16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6" name="S206"/>
          <p:cNvSpPr/>
          <p:nvPr/>
        </p:nvSpPr>
        <p:spPr>
          <a:xfrm>
            <a:off x="457200" y="2209800"/>
            <a:ext cx="609600" cy="330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sm</a:t>
            </a:r>
          </a:p>
        </p:txBody>
      </p:sp>
      <p:sp>
        <p:nvSpPr>
          <p:cNvPr id="207" name="S207"/>
          <p:cNvSpPr/>
          <p:nvPr/>
        </p:nvSpPr>
        <p:spPr>
          <a:xfrm>
            <a:off x="1143000" y="2209800"/>
            <a:ext cx="6096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8 px</a:t>
            </a:r>
          </a:p>
        </p:txBody>
      </p:sp>
      <p:sp>
        <p:nvSpPr>
          <p:cNvPr id="208" name="S208"/>
          <p:cNvSpPr/>
          <p:nvPr/>
        </p:nvSpPr>
        <p:spPr>
          <a:xfrm>
            <a:off x="1879600" y="2286000"/>
            <a:ext cx="508000" cy="177800"/>
          </a:xfrm>
          <a:prstGeom prst="roundRect">
            <a:avLst>
              <a:gd name="adj" fmla="val 16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9" name="S209"/>
          <p:cNvSpPr/>
          <p:nvPr/>
        </p:nvSpPr>
        <p:spPr>
          <a:xfrm>
            <a:off x="457200" y="2743200"/>
            <a:ext cx="609600" cy="330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md</a:t>
            </a:r>
          </a:p>
        </p:txBody>
      </p:sp>
      <p:sp>
        <p:nvSpPr>
          <p:cNvPr id="210" name="S210"/>
          <p:cNvSpPr/>
          <p:nvPr/>
        </p:nvSpPr>
        <p:spPr>
          <a:xfrm>
            <a:off x="1143000" y="2743200"/>
            <a:ext cx="6096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16 px</a:t>
            </a:r>
          </a:p>
        </p:txBody>
      </p:sp>
      <p:sp>
        <p:nvSpPr>
          <p:cNvPr id="211" name="S211"/>
          <p:cNvSpPr/>
          <p:nvPr/>
        </p:nvSpPr>
        <p:spPr>
          <a:xfrm>
            <a:off x="1879600" y="2819400"/>
            <a:ext cx="1016000" cy="177800"/>
          </a:xfrm>
          <a:prstGeom prst="roundRect">
            <a:avLst>
              <a:gd name="adj" fmla="val 16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457200" y="3276600"/>
            <a:ext cx="609600" cy="330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lg</a:t>
            </a:r>
          </a:p>
        </p:txBody>
      </p:sp>
      <p:sp>
        <p:nvSpPr>
          <p:cNvPr id="213" name="S213"/>
          <p:cNvSpPr/>
          <p:nvPr/>
        </p:nvSpPr>
        <p:spPr>
          <a:xfrm>
            <a:off x="1143000" y="3276600"/>
            <a:ext cx="6096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24 px</a:t>
            </a:r>
          </a:p>
        </p:txBody>
      </p:sp>
      <p:sp>
        <p:nvSpPr>
          <p:cNvPr id="214" name="S214"/>
          <p:cNvSpPr/>
          <p:nvPr/>
        </p:nvSpPr>
        <p:spPr>
          <a:xfrm>
            <a:off x="1879600" y="3352800"/>
            <a:ext cx="1524000" cy="177800"/>
          </a:xfrm>
          <a:prstGeom prst="roundRect">
            <a:avLst>
              <a:gd name="adj" fmla="val 16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15" name="S215"/>
          <p:cNvSpPr/>
          <p:nvPr/>
        </p:nvSpPr>
        <p:spPr>
          <a:xfrm>
            <a:off x="457200" y="3810000"/>
            <a:ext cx="609600" cy="330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xl</a:t>
            </a:r>
          </a:p>
        </p:txBody>
      </p:sp>
      <p:sp>
        <p:nvSpPr>
          <p:cNvPr id="216" name="S216"/>
          <p:cNvSpPr/>
          <p:nvPr/>
        </p:nvSpPr>
        <p:spPr>
          <a:xfrm>
            <a:off x="1143000" y="3810000"/>
            <a:ext cx="6096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32 px</a:t>
            </a:r>
          </a:p>
        </p:txBody>
      </p:sp>
      <p:sp>
        <p:nvSpPr>
          <p:cNvPr id="217" name="S217"/>
          <p:cNvSpPr/>
          <p:nvPr/>
        </p:nvSpPr>
        <p:spPr>
          <a:xfrm>
            <a:off x="1879600" y="3886200"/>
            <a:ext cx="2032000" cy="177800"/>
          </a:xfrm>
          <a:prstGeom prst="roundRect">
            <a:avLst>
              <a:gd name="adj" fmla="val 16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18" name="S218"/>
          <p:cNvSpPr/>
          <p:nvPr/>
        </p:nvSpPr>
        <p:spPr>
          <a:xfrm>
            <a:off x="457200" y="4343400"/>
            <a:ext cx="609600" cy="330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xxl</a:t>
            </a:r>
          </a:p>
        </p:txBody>
      </p:sp>
      <p:sp>
        <p:nvSpPr>
          <p:cNvPr id="219" name="S219"/>
          <p:cNvSpPr/>
          <p:nvPr/>
        </p:nvSpPr>
        <p:spPr>
          <a:xfrm>
            <a:off x="1143000" y="4343400"/>
            <a:ext cx="6096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48 px</a:t>
            </a:r>
          </a:p>
        </p:txBody>
      </p:sp>
      <p:sp>
        <p:nvSpPr>
          <p:cNvPr id="220" name="S220"/>
          <p:cNvSpPr/>
          <p:nvPr/>
        </p:nvSpPr>
        <p:spPr>
          <a:xfrm>
            <a:off x="1879600" y="4419600"/>
            <a:ext cx="3048000" cy="177800"/>
          </a:xfrm>
          <a:prstGeom prst="roundRect">
            <a:avLst>
              <a:gd name="adj" fmla="val 16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21" name="S221"/>
          <p:cNvSpPr/>
          <p:nvPr/>
        </p:nvSpPr>
        <p:spPr>
          <a:xfrm>
            <a:off x="457200" y="5080000"/>
            <a:ext cx="5080000" cy="1397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45720" anchor="b"/>
          <a:lstStyle/>
          <a:p>
            <a:pPr algn="ctr">
              <a:buNone/>
            </a:pPr>
            <a:r>
              <a:rPr lang="en-US" sz="1000" dirty="0">
                <a:solidFill>
                  <a:srgbClr val="9CA3AF"/>
                </a:solidFill>
                <a:latin typeface="Inter"/>
              </a:rPr>
              <a:t>Spacing illustration: nested containers</a:t>
            </a:r>
          </a:p>
        </p:txBody>
      </p:sp>
      <p:sp>
        <p:nvSpPr>
          <p:cNvPr id="222" name="S222"/>
          <p:cNvSpPr/>
          <p:nvPr/>
        </p:nvSpPr>
        <p:spPr>
          <a:xfrm>
            <a:off x="660400" y="5207000"/>
            <a:ext cx="4673600" cy="914400"/>
          </a:xfrm>
          <a:prstGeom prst="roundRect">
            <a:avLst>
              <a:gd name="adj" fmla="val 5000"/>
            </a:avLst>
          </a:prstGeom>
          <a:solidFill>
            <a:srgbClr val="D8F3DC"/>
          </a:solidFill>
          <a:ln w="9525">
            <a:solidFill>
              <a:srgbClr val="52B788"/>
            </a:solidFill>
          </a:ln>
        </p:spPr>
        <p:txBody>
          <a:bodyPr wrap="square" lIns="45720" tIns="2700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D6A4F"/>
                </a:solidFill>
                <a:latin typeface="Inter"/>
              </a:rPr>
              <a:t>xxl (48px)</a:t>
            </a:r>
          </a:p>
        </p:txBody>
      </p:sp>
      <p:sp>
        <p:nvSpPr>
          <p:cNvPr id="223" name="S223"/>
          <p:cNvSpPr/>
          <p:nvPr/>
        </p:nvSpPr>
        <p:spPr>
          <a:xfrm>
            <a:off x="1219200" y="5461000"/>
            <a:ext cx="3556000" cy="48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52B788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D6A4F"/>
                </a:solidFill>
                <a:latin typeface="Inter"/>
              </a:rPr>
              <a:t>md (16px)</a:t>
            </a:r>
          </a:p>
        </p:txBody>
      </p:sp>
      <p:sp>
        <p:nvSpPr>
          <p:cNvPr id="224" name="S224"/>
          <p:cNvSpPr/>
          <p:nvPr/>
        </p:nvSpPr>
        <p:spPr>
          <a:xfrm>
            <a:off x="6350000" y="1333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BORDER RADIUS</a:t>
            </a:r>
          </a:p>
        </p:txBody>
      </p:sp>
      <p:sp>
        <p:nvSpPr>
          <p:cNvPr id="225" name="S225"/>
          <p:cNvSpPr/>
          <p:nvPr/>
        </p:nvSpPr>
        <p:spPr>
          <a:xfrm>
            <a:off x="6350000" y="1714500"/>
            <a:ext cx="1016000" cy="76200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6 px</a:t>
            </a:r>
          </a:p>
        </p:txBody>
      </p:sp>
      <p:sp>
        <p:nvSpPr>
          <p:cNvPr id="226" name="S226"/>
          <p:cNvSpPr/>
          <p:nvPr/>
        </p:nvSpPr>
        <p:spPr>
          <a:xfrm>
            <a:off x="6350000" y="2552700"/>
            <a:ext cx="101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sm</a:t>
            </a:r>
          </a:p>
        </p:txBody>
      </p:sp>
      <p:sp>
        <p:nvSpPr>
          <p:cNvPr id="227" name="S227"/>
          <p:cNvSpPr/>
          <p:nvPr/>
        </p:nvSpPr>
        <p:spPr>
          <a:xfrm>
            <a:off x="7518400" y="1714500"/>
            <a:ext cx="1016000" cy="7620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10 px</a:t>
            </a:r>
          </a:p>
        </p:txBody>
      </p:sp>
      <p:sp>
        <p:nvSpPr>
          <p:cNvPr id="228" name="S228"/>
          <p:cNvSpPr/>
          <p:nvPr/>
        </p:nvSpPr>
        <p:spPr>
          <a:xfrm>
            <a:off x="7518400" y="2552700"/>
            <a:ext cx="101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md</a:t>
            </a:r>
          </a:p>
        </p:txBody>
      </p:sp>
      <p:sp>
        <p:nvSpPr>
          <p:cNvPr id="229" name="S229"/>
          <p:cNvSpPr/>
          <p:nvPr/>
        </p:nvSpPr>
        <p:spPr>
          <a:xfrm>
            <a:off x="8686800" y="1714500"/>
            <a:ext cx="1016000" cy="7620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16 px</a:t>
            </a:r>
          </a:p>
        </p:txBody>
      </p:sp>
      <p:sp>
        <p:nvSpPr>
          <p:cNvPr id="230" name="S230"/>
          <p:cNvSpPr/>
          <p:nvPr/>
        </p:nvSpPr>
        <p:spPr>
          <a:xfrm>
            <a:off x="8686800" y="2552700"/>
            <a:ext cx="101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lg</a:t>
            </a:r>
          </a:p>
        </p:txBody>
      </p:sp>
      <p:sp>
        <p:nvSpPr>
          <p:cNvPr id="231" name="S231"/>
          <p:cNvSpPr/>
          <p:nvPr/>
        </p:nvSpPr>
        <p:spPr>
          <a:xfrm>
            <a:off x="9855200" y="1714500"/>
            <a:ext cx="1016000" cy="762000"/>
          </a:xfrm>
          <a:prstGeom prst="roundRect">
            <a:avLst>
              <a:gd name="adj" fmla="val 24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Inter"/>
              </a:rPr>
              <a:t>24 px</a:t>
            </a:r>
          </a:p>
        </p:txBody>
      </p:sp>
      <p:sp>
        <p:nvSpPr>
          <p:cNvPr id="232" name="S232"/>
          <p:cNvSpPr/>
          <p:nvPr/>
        </p:nvSpPr>
        <p:spPr>
          <a:xfrm>
            <a:off x="9855200" y="2552700"/>
            <a:ext cx="101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xl</a:t>
            </a:r>
          </a:p>
        </p:txBody>
      </p:sp>
      <p:sp>
        <p:nvSpPr>
          <p:cNvPr id="233" name="S233"/>
          <p:cNvSpPr/>
          <p:nvPr/>
        </p:nvSpPr>
        <p:spPr>
          <a:xfrm>
            <a:off x="6350000" y="3035300"/>
            <a:ext cx="2286000" cy="558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Inter"/>
              </a:rPr>
              <a:t>full — 999 px (pill)</a:t>
            </a:r>
          </a:p>
        </p:txBody>
      </p:sp>
      <p:sp>
        <p:nvSpPr>
          <p:cNvPr id="234" name="S234"/>
          <p:cNvSpPr/>
          <p:nvPr/>
        </p:nvSpPr>
        <p:spPr>
          <a:xfrm>
            <a:off x="6350000" y="3848100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VISUAL COMPARISON</a:t>
            </a:r>
          </a:p>
        </p:txBody>
      </p:sp>
      <p:sp>
        <p:nvSpPr>
          <p:cNvPr id="235" name="S235"/>
          <p:cNvSpPr/>
          <p:nvPr/>
        </p:nvSpPr>
        <p:spPr>
          <a:xfrm>
            <a:off x="6350000" y="4152900"/>
            <a:ext cx="914400" cy="635000"/>
          </a:xfrm>
          <a:prstGeom prst="rect">
            <a:avLst/>
          </a:prstGeom>
          <a:noFill/>
          <a:ln w="19050">
            <a:solidFill>
              <a:srgbClr val="52B788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0</a:t>
            </a:r>
          </a:p>
        </p:txBody>
      </p:sp>
      <p:sp>
        <p:nvSpPr>
          <p:cNvPr id="236" name="S236"/>
          <p:cNvSpPr/>
          <p:nvPr/>
        </p:nvSpPr>
        <p:spPr>
          <a:xfrm>
            <a:off x="7391400" y="4152900"/>
            <a:ext cx="914400" cy="63500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52B788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sm</a:t>
            </a:r>
          </a:p>
        </p:txBody>
      </p:sp>
      <p:sp>
        <p:nvSpPr>
          <p:cNvPr id="237" name="S237"/>
          <p:cNvSpPr/>
          <p:nvPr/>
        </p:nvSpPr>
        <p:spPr>
          <a:xfrm>
            <a:off x="8432800" y="4152900"/>
            <a:ext cx="914400" cy="635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52B788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md</a:t>
            </a:r>
          </a:p>
        </p:txBody>
      </p:sp>
      <p:sp>
        <p:nvSpPr>
          <p:cNvPr id="238" name="S238"/>
          <p:cNvSpPr/>
          <p:nvPr/>
        </p:nvSpPr>
        <p:spPr>
          <a:xfrm>
            <a:off x="9474200" y="4152900"/>
            <a:ext cx="914400" cy="635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52B788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lg</a:t>
            </a:r>
          </a:p>
        </p:txBody>
      </p:sp>
      <p:sp>
        <p:nvSpPr>
          <p:cNvPr id="239" name="S239"/>
          <p:cNvSpPr/>
          <p:nvPr/>
        </p:nvSpPr>
        <p:spPr>
          <a:xfrm>
            <a:off x="10515600" y="4152900"/>
            <a:ext cx="914400" cy="635000"/>
          </a:xfrm>
          <a:prstGeom prst="roundRect">
            <a:avLst>
              <a:gd name="adj" fmla="val 24000"/>
            </a:avLst>
          </a:prstGeom>
          <a:noFill/>
          <a:ln w="19050">
            <a:solidFill>
              <a:srgbClr val="52B788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D6A4F"/>
                </a:solidFill>
                <a:latin typeface="Inter"/>
              </a:rPr>
              <a:t>xl</a:t>
            </a:r>
          </a:p>
        </p:txBody>
      </p:sp>
      <p:sp>
        <p:nvSpPr>
          <p:cNvPr id="240" name="S240"/>
          <p:cNvSpPr/>
          <p:nvPr/>
        </p:nvSpPr>
        <p:spPr>
          <a:xfrm>
            <a:off x="457200" y="60960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D6A4F"/>
                </a:solidFill>
                <a:latin typeface="Inter"/>
              </a:rPr>
              <a:t>Tip: Use sm radius for inputs, md for cards, lg for modals, xl for bottom sheets, full for pills/avatars</a:t>
            </a:r>
          </a:p>
        </p:txBody>
      </p:sp>
    </p:spTree>
    <p:extLst>
      <p:ext uri="{BB962C8B-B14F-4D97-AF65-F5344CB8AC3E}">
        <p14:creationId xmlns:p14="http://schemas.microsoft.com/office/powerpoint/2010/main" val="110896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300"/>
          <p:cNvSpPr/>
          <p:nvPr/>
        </p:nvSpPr>
        <p:spPr>
          <a:xfrm>
            <a:off x="457200" y="304800"/>
            <a:ext cx="112776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2800" b="1" dirty="0">
                <a:solidFill>
                  <a:srgbClr val="1A1A2E"/>
                </a:solidFill>
                <a:latin typeface="Inter"/>
              </a:rPr>
              <a:t>Shadows &amp; Elevation</a:t>
            </a:r>
          </a:p>
        </p:txBody>
      </p:sp>
      <p:sp>
        <p:nvSpPr>
          <p:cNvPr id="301" name="S301"/>
          <p:cNvSpPr/>
          <p:nvPr/>
        </p:nvSpPr>
        <p:spPr>
          <a:xfrm>
            <a:off x="457200" y="863600"/>
            <a:ext cx="762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7280"/>
                </a:solidFill>
                <a:latin typeface="Inter"/>
              </a:rPr>
              <a:t>Three elevation levels for depth hierarchy</a:t>
            </a:r>
          </a:p>
        </p:txBody>
      </p:sp>
      <p:sp>
        <p:nvSpPr>
          <p:cNvPr id="302" name="S302"/>
          <p:cNvSpPr/>
          <p:nvPr/>
        </p:nvSpPr>
        <p:spPr>
          <a:xfrm>
            <a:off x="711200" y="1524000"/>
            <a:ext cx="3302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A1A2E"/>
                </a:solidFill>
                <a:latin typeface="Inter"/>
              </a:rPr>
              <a:t>shadow-sm</a:t>
            </a:r>
          </a:p>
        </p:txBody>
      </p:sp>
      <p:sp>
        <p:nvSpPr>
          <p:cNvPr id="303" name="S303"/>
          <p:cNvSpPr/>
          <p:nvPr/>
        </p:nvSpPr>
        <p:spPr>
          <a:xfrm>
            <a:off x="1727200" y="16256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D6A4F"/>
                </a:solidFill>
                <a:latin typeface="Inter"/>
              </a:rPr>
              <a:t>shadow-sm</a:t>
            </a:r>
          </a:p>
        </p:txBody>
      </p:sp>
      <p:sp>
        <p:nvSpPr>
          <p:cNvPr id="304" name="S304"/>
          <p:cNvSpPr/>
          <p:nvPr/>
        </p:nvSpPr>
        <p:spPr>
          <a:xfrm>
            <a:off x="4368800" y="1524000"/>
            <a:ext cx="3302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A1A2E"/>
                </a:solidFill>
                <a:latin typeface="Inter"/>
              </a:rPr>
              <a:t>shadow-md</a:t>
            </a:r>
          </a:p>
        </p:txBody>
      </p:sp>
      <p:sp>
        <p:nvSpPr>
          <p:cNvPr id="305" name="S305"/>
          <p:cNvSpPr/>
          <p:nvPr/>
        </p:nvSpPr>
        <p:spPr>
          <a:xfrm>
            <a:off x="5384800" y="16256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D6A4F"/>
                </a:solidFill>
                <a:latin typeface="Inter"/>
              </a:rPr>
              <a:t>shadow-md</a:t>
            </a:r>
          </a:p>
        </p:txBody>
      </p:sp>
      <p:sp>
        <p:nvSpPr>
          <p:cNvPr id="306" name="S306"/>
          <p:cNvSpPr/>
          <p:nvPr/>
        </p:nvSpPr>
        <p:spPr>
          <a:xfrm>
            <a:off x="8026400" y="1524000"/>
            <a:ext cx="3302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  <a:effectLst>
            <a:outerShdw blurRad="152400" dist="508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A1A2E"/>
                </a:solidFill>
                <a:latin typeface="Inter"/>
              </a:rPr>
              <a:t>shadow-lg</a:t>
            </a:r>
          </a:p>
        </p:txBody>
      </p:sp>
      <p:sp>
        <p:nvSpPr>
          <p:cNvPr id="307" name="S307"/>
          <p:cNvSpPr/>
          <p:nvPr/>
        </p:nvSpPr>
        <p:spPr>
          <a:xfrm>
            <a:off x="9042400" y="16256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D6A4F"/>
                </a:solidFill>
                <a:latin typeface="Inter"/>
              </a:rPr>
              <a:t>shadow-lg</a:t>
            </a:r>
          </a:p>
        </p:txBody>
      </p:sp>
      <p:sp>
        <p:nvSpPr>
          <p:cNvPr id="308" name="S308"/>
          <p:cNvSpPr/>
          <p:nvPr/>
        </p:nvSpPr>
        <p:spPr>
          <a:xfrm>
            <a:off x="457200" y="40640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SPECIFICATIONS</a:t>
            </a:r>
          </a:p>
        </p:txBody>
      </p:sp>
      <p:sp>
        <p:nvSpPr>
          <p:cNvPr id="309" name="S309"/>
          <p:cNvSpPr/>
          <p:nvPr/>
        </p:nvSpPr>
        <p:spPr>
          <a:xfrm>
            <a:off x="457200" y="4394200"/>
            <a:ext cx="1651000" cy="35560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Token</a:t>
            </a:r>
          </a:p>
        </p:txBody>
      </p:sp>
      <p:sp>
        <p:nvSpPr>
          <p:cNvPr id="310" name="S310"/>
          <p:cNvSpPr/>
          <p:nvPr/>
        </p:nvSpPr>
        <p:spPr>
          <a:xfrm>
            <a:off x="2108200" y="4394200"/>
            <a:ext cx="1651000" cy="35560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Offset (x/y)</a:t>
            </a:r>
          </a:p>
        </p:txBody>
      </p:sp>
      <p:sp>
        <p:nvSpPr>
          <p:cNvPr id="311" name="S311"/>
          <p:cNvSpPr/>
          <p:nvPr/>
        </p:nvSpPr>
        <p:spPr>
          <a:xfrm>
            <a:off x="3759200" y="4394200"/>
            <a:ext cx="1651000" cy="35560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Opacity</a:t>
            </a:r>
          </a:p>
        </p:txBody>
      </p:sp>
      <p:sp>
        <p:nvSpPr>
          <p:cNvPr id="312" name="S312"/>
          <p:cNvSpPr/>
          <p:nvPr/>
        </p:nvSpPr>
        <p:spPr>
          <a:xfrm>
            <a:off x="5410200" y="4394200"/>
            <a:ext cx="1651000" cy="35560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Blur Radius</a:t>
            </a:r>
          </a:p>
        </p:txBody>
      </p:sp>
      <p:sp>
        <p:nvSpPr>
          <p:cNvPr id="313" name="S313"/>
          <p:cNvSpPr/>
          <p:nvPr/>
        </p:nvSpPr>
        <p:spPr>
          <a:xfrm>
            <a:off x="7061200" y="4394200"/>
            <a:ext cx="3048000" cy="35560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Use Case</a:t>
            </a:r>
          </a:p>
        </p:txBody>
      </p:sp>
      <p:sp>
        <p:nvSpPr>
          <p:cNvPr id="314" name="S314"/>
          <p:cNvSpPr/>
          <p:nvPr/>
        </p:nvSpPr>
        <p:spPr>
          <a:xfrm>
            <a:off x="457200" y="47498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D6A4F"/>
                </a:solidFill>
                <a:latin typeface="Inter"/>
              </a:rPr>
              <a:t>shadow-sm</a:t>
            </a:r>
          </a:p>
        </p:txBody>
      </p:sp>
      <p:sp>
        <p:nvSpPr>
          <p:cNvPr id="315" name="S315"/>
          <p:cNvSpPr/>
          <p:nvPr/>
        </p:nvSpPr>
        <p:spPr>
          <a:xfrm>
            <a:off x="2108200" y="47498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0 / 1 px</a:t>
            </a:r>
          </a:p>
        </p:txBody>
      </p:sp>
      <p:sp>
        <p:nvSpPr>
          <p:cNvPr id="316" name="S316"/>
          <p:cNvSpPr/>
          <p:nvPr/>
        </p:nvSpPr>
        <p:spPr>
          <a:xfrm>
            <a:off x="3759200" y="47498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5%</a:t>
            </a:r>
          </a:p>
        </p:txBody>
      </p:sp>
      <p:sp>
        <p:nvSpPr>
          <p:cNvPr id="317" name="S317"/>
          <p:cNvSpPr/>
          <p:nvPr/>
        </p:nvSpPr>
        <p:spPr>
          <a:xfrm>
            <a:off x="5410200" y="47498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2 px</a:t>
            </a:r>
          </a:p>
        </p:txBody>
      </p:sp>
      <p:sp>
        <p:nvSpPr>
          <p:cNvPr id="318" name="S318"/>
          <p:cNvSpPr/>
          <p:nvPr/>
        </p:nvSpPr>
        <p:spPr>
          <a:xfrm>
            <a:off x="7061200" y="4749800"/>
            <a:ext cx="3048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Cards at rest, input fields, list items</a:t>
            </a:r>
          </a:p>
        </p:txBody>
      </p:sp>
      <p:sp>
        <p:nvSpPr>
          <p:cNvPr id="319" name="S319"/>
          <p:cNvSpPr/>
          <p:nvPr/>
        </p:nvSpPr>
        <p:spPr>
          <a:xfrm>
            <a:off x="457200" y="5156200"/>
            <a:ext cx="1651000" cy="406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D6A4F"/>
                </a:solidFill>
                <a:latin typeface="Inter"/>
              </a:rPr>
              <a:t>shadow-md</a:t>
            </a:r>
          </a:p>
        </p:txBody>
      </p:sp>
      <p:sp>
        <p:nvSpPr>
          <p:cNvPr id="320" name="S320"/>
          <p:cNvSpPr/>
          <p:nvPr/>
        </p:nvSpPr>
        <p:spPr>
          <a:xfrm>
            <a:off x="2108200" y="5156200"/>
            <a:ext cx="1651000" cy="406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0 / 2 px</a:t>
            </a:r>
          </a:p>
        </p:txBody>
      </p:sp>
      <p:sp>
        <p:nvSpPr>
          <p:cNvPr id="321" name="S321"/>
          <p:cNvSpPr/>
          <p:nvPr/>
        </p:nvSpPr>
        <p:spPr>
          <a:xfrm>
            <a:off x="3759200" y="5156200"/>
            <a:ext cx="1651000" cy="406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8%</a:t>
            </a:r>
          </a:p>
        </p:txBody>
      </p:sp>
      <p:sp>
        <p:nvSpPr>
          <p:cNvPr id="322" name="S322"/>
          <p:cNvSpPr/>
          <p:nvPr/>
        </p:nvSpPr>
        <p:spPr>
          <a:xfrm>
            <a:off x="5410200" y="5156200"/>
            <a:ext cx="1651000" cy="406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6 px</a:t>
            </a:r>
          </a:p>
        </p:txBody>
      </p:sp>
      <p:sp>
        <p:nvSpPr>
          <p:cNvPr id="323" name="S323"/>
          <p:cNvSpPr/>
          <p:nvPr/>
        </p:nvSpPr>
        <p:spPr>
          <a:xfrm>
            <a:off x="7061200" y="5156200"/>
            <a:ext cx="3048000" cy="406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Hover states, dropdowns, tooltips</a:t>
            </a:r>
          </a:p>
        </p:txBody>
      </p:sp>
      <p:sp>
        <p:nvSpPr>
          <p:cNvPr id="324" name="S324"/>
          <p:cNvSpPr/>
          <p:nvPr/>
        </p:nvSpPr>
        <p:spPr>
          <a:xfrm>
            <a:off x="457200" y="55626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D6A4F"/>
                </a:solidFill>
                <a:latin typeface="Inter"/>
              </a:rPr>
              <a:t>shadow-lg</a:t>
            </a:r>
          </a:p>
        </p:txBody>
      </p:sp>
      <p:sp>
        <p:nvSpPr>
          <p:cNvPr id="325" name="S325"/>
          <p:cNvSpPr/>
          <p:nvPr/>
        </p:nvSpPr>
        <p:spPr>
          <a:xfrm>
            <a:off x="2108200" y="55626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0 / 4 px</a:t>
            </a:r>
          </a:p>
        </p:txBody>
      </p:sp>
      <p:sp>
        <p:nvSpPr>
          <p:cNvPr id="326" name="S326"/>
          <p:cNvSpPr/>
          <p:nvPr/>
        </p:nvSpPr>
        <p:spPr>
          <a:xfrm>
            <a:off x="3759200" y="55626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12%</a:t>
            </a:r>
          </a:p>
        </p:txBody>
      </p:sp>
      <p:sp>
        <p:nvSpPr>
          <p:cNvPr id="327" name="S327"/>
          <p:cNvSpPr/>
          <p:nvPr/>
        </p:nvSpPr>
        <p:spPr>
          <a:xfrm>
            <a:off x="5410200" y="5562600"/>
            <a:ext cx="1651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12 px</a:t>
            </a:r>
          </a:p>
        </p:txBody>
      </p:sp>
      <p:sp>
        <p:nvSpPr>
          <p:cNvPr id="328" name="S328"/>
          <p:cNvSpPr/>
          <p:nvPr/>
        </p:nvSpPr>
        <p:spPr>
          <a:xfrm>
            <a:off x="7061200" y="5562600"/>
            <a:ext cx="3048000" cy="4064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txBody>
          <a:bodyPr wrap="square" lIns="27000" tIns="0" rIns="27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1A1A2E"/>
                </a:solidFill>
                <a:latin typeface="Inter"/>
              </a:rPr>
              <a:t>Modals, bottom sheets, floating actions</a:t>
            </a:r>
          </a:p>
        </p:txBody>
      </p:sp>
      <p:sp>
        <p:nvSpPr>
          <p:cNvPr id="329" name="S329"/>
          <p:cNvSpPr/>
          <p:nvPr/>
        </p:nvSpPr>
        <p:spPr>
          <a:xfrm>
            <a:off x="457200" y="60960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D6A4F"/>
                </a:solidFill>
                <a:latin typeface="Inter"/>
              </a:rPr>
              <a:t>Progressive elevation: sm for at-rest elements, md for interactive states, lg for overlay surfaces</a:t>
            </a:r>
          </a:p>
        </p:txBody>
      </p:sp>
    </p:spTree>
    <p:extLst>
      <p:ext uri="{BB962C8B-B14F-4D97-AF65-F5344CB8AC3E}">
        <p14:creationId xmlns:p14="http://schemas.microsoft.com/office/powerpoint/2010/main" val="354526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457200" y="304800"/>
            <a:ext cx="112776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2800" b="1" dirty="0">
                <a:solidFill>
                  <a:srgbClr val="1A1A2E"/>
                </a:solidFill>
                <a:latin typeface="Inter"/>
              </a:rPr>
              <a:t>Nutrition Badge System</a:t>
            </a:r>
          </a:p>
        </p:txBody>
      </p:sp>
      <p:sp>
        <p:nvSpPr>
          <p:cNvPr id="401" name="S401"/>
          <p:cNvSpPr/>
          <p:nvPr/>
        </p:nvSpPr>
        <p:spPr>
          <a:xfrm>
            <a:off x="457200" y="863600"/>
            <a:ext cx="889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7280"/>
                </a:solidFill>
                <a:latin typeface="Inter"/>
              </a:rPr>
              <a:t>Color-coded macro nutrient badges with consistent visual language</a:t>
            </a:r>
          </a:p>
        </p:txBody>
      </p:sp>
      <p:sp>
        <p:nvSpPr>
          <p:cNvPr id="402" name="S402"/>
          <p:cNvSpPr/>
          <p:nvPr/>
        </p:nvSpPr>
        <p:spPr>
          <a:xfrm>
            <a:off x="508000" y="1397000"/>
            <a:ext cx="25400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03" name="S403"/>
          <p:cNvSpPr/>
          <p:nvPr/>
        </p:nvSpPr>
        <p:spPr>
          <a:xfrm>
            <a:off x="520700" y="1409700"/>
            <a:ext cx="2514600" cy="762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04" name="S404"/>
          <p:cNvSpPr/>
          <p:nvPr/>
        </p:nvSpPr>
        <p:spPr>
          <a:xfrm>
            <a:off x="1422400" y="1676400"/>
            <a:ext cx="711200" cy="711200"/>
          </a:xfrm>
          <a:prstGeom prst="ellipse">
            <a:avLst/>
          </a:prstGeom>
          <a:solidFill>
            <a:srgbClr val="F59E0B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F59E0B"/>
                </a:solidFill>
                <a:latin typeface="Inter"/>
              </a:rPr>
              <a:t>C</a:t>
            </a:r>
          </a:p>
        </p:txBody>
      </p:sp>
      <p:sp>
        <p:nvSpPr>
          <p:cNvPr id="405" name="S405"/>
          <p:cNvSpPr/>
          <p:nvPr/>
        </p:nvSpPr>
        <p:spPr>
          <a:xfrm>
            <a:off x="508000" y="24765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1A1A2E"/>
                </a:solidFill>
                <a:latin typeface="Inter"/>
              </a:rPr>
              <a:t>Calories</a:t>
            </a:r>
          </a:p>
        </p:txBody>
      </p:sp>
      <p:sp>
        <p:nvSpPr>
          <p:cNvPr id="406" name="S406"/>
          <p:cNvSpPr/>
          <p:nvPr/>
        </p:nvSpPr>
        <p:spPr>
          <a:xfrm>
            <a:off x="508000" y="27686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59E0B"/>
                </a:solidFill>
                <a:latin typeface="Inter"/>
              </a:rPr>
              <a:t>520 kcal</a:t>
            </a:r>
          </a:p>
        </p:txBody>
      </p:sp>
      <p:sp>
        <p:nvSpPr>
          <p:cNvPr id="407" name="S407"/>
          <p:cNvSpPr/>
          <p:nvPr/>
        </p:nvSpPr>
        <p:spPr>
          <a:xfrm>
            <a:off x="1016000" y="3149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F59E0B"/>
                </a:solidFill>
                <a:latin typeface="Inter"/>
              </a:rPr>
              <a:t>#F59E0B</a:t>
            </a:r>
          </a:p>
        </p:txBody>
      </p:sp>
      <p:sp>
        <p:nvSpPr>
          <p:cNvPr id="408" name="S408"/>
          <p:cNvSpPr/>
          <p:nvPr/>
        </p:nvSpPr>
        <p:spPr>
          <a:xfrm>
            <a:off x="508000" y="3492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9CA3AF"/>
                </a:solidFill>
                <a:latin typeface="Inter"/>
              </a:rPr>
              <a:t>Yellow-amber</a:t>
            </a:r>
          </a:p>
        </p:txBody>
      </p:sp>
      <p:sp>
        <p:nvSpPr>
          <p:cNvPr id="409" name="S409"/>
          <p:cNvSpPr/>
          <p:nvPr/>
        </p:nvSpPr>
        <p:spPr>
          <a:xfrm>
            <a:off x="3251200" y="1397000"/>
            <a:ext cx="25400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10" name="S410"/>
          <p:cNvSpPr/>
          <p:nvPr/>
        </p:nvSpPr>
        <p:spPr>
          <a:xfrm>
            <a:off x="3263900" y="1409700"/>
            <a:ext cx="2514600" cy="762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11" name="S411"/>
          <p:cNvSpPr/>
          <p:nvPr/>
        </p:nvSpPr>
        <p:spPr>
          <a:xfrm>
            <a:off x="4165600" y="1676400"/>
            <a:ext cx="711200" cy="711200"/>
          </a:xfrm>
          <a:prstGeom prst="ellipse">
            <a:avLst/>
          </a:prstGeom>
          <a:solidFill>
            <a:srgbClr val="3B82F6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3B82F6"/>
                </a:solidFill>
                <a:latin typeface="Inter"/>
              </a:rPr>
              <a:t>P</a:t>
            </a:r>
          </a:p>
        </p:txBody>
      </p:sp>
      <p:sp>
        <p:nvSpPr>
          <p:cNvPr id="412" name="S412"/>
          <p:cNvSpPr/>
          <p:nvPr/>
        </p:nvSpPr>
        <p:spPr>
          <a:xfrm>
            <a:off x="3251200" y="24765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1A1A2E"/>
                </a:solidFill>
                <a:latin typeface="Inter"/>
              </a:rPr>
              <a:t>Protein</a:t>
            </a:r>
          </a:p>
        </p:txBody>
      </p:sp>
      <p:sp>
        <p:nvSpPr>
          <p:cNvPr id="413" name="S413"/>
          <p:cNvSpPr/>
          <p:nvPr/>
        </p:nvSpPr>
        <p:spPr>
          <a:xfrm>
            <a:off x="3251200" y="27686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3B82F6"/>
                </a:solidFill>
                <a:latin typeface="Inter"/>
              </a:rPr>
              <a:t>32 g</a:t>
            </a:r>
          </a:p>
        </p:txBody>
      </p:sp>
      <p:sp>
        <p:nvSpPr>
          <p:cNvPr id="414" name="S414"/>
          <p:cNvSpPr/>
          <p:nvPr/>
        </p:nvSpPr>
        <p:spPr>
          <a:xfrm>
            <a:off x="3759200" y="3149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3B82F6"/>
                </a:solidFill>
                <a:latin typeface="Inter"/>
              </a:rPr>
              <a:t>#3B82F6</a:t>
            </a:r>
          </a:p>
        </p:txBody>
      </p:sp>
      <p:sp>
        <p:nvSpPr>
          <p:cNvPr id="415" name="S415"/>
          <p:cNvSpPr/>
          <p:nvPr/>
        </p:nvSpPr>
        <p:spPr>
          <a:xfrm>
            <a:off x="3251200" y="3492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9CA3AF"/>
                </a:solidFill>
                <a:latin typeface="Inter"/>
              </a:rPr>
              <a:t>Blue</a:t>
            </a:r>
          </a:p>
        </p:txBody>
      </p:sp>
      <p:sp>
        <p:nvSpPr>
          <p:cNvPr id="416" name="S416"/>
          <p:cNvSpPr/>
          <p:nvPr/>
        </p:nvSpPr>
        <p:spPr>
          <a:xfrm>
            <a:off x="5994400" y="1397000"/>
            <a:ext cx="25400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17" name="S417"/>
          <p:cNvSpPr/>
          <p:nvPr/>
        </p:nvSpPr>
        <p:spPr>
          <a:xfrm>
            <a:off x="6007100" y="1409700"/>
            <a:ext cx="2514600" cy="762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18" name="S418"/>
          <p:cNvSpPr/>
          <p:nvPr/>
        </p:nvSpPr>
        <p:spPr>
          <a:xfrm>
            <a:off x="6908800" y="1676400"/>
            <a:ext cx="711200" cy="711200"/>
          </a:xfrm>
          <a:prstGeom prst="ellipse">
            <a:avLst/>
          </a:prstGeom>
          <a:solidFill>
            <a:srgbClr val="8B5CF6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8B5CF6"/>
                </a:solidFill>
                <a:latin typeface="Inter"/>
              </a:rPr>
              <a:t>C</a:t>
            </a:r>
          </a:p>
        </p:txBody>
      </p:sp>
      <p:sp>
        <p:nvSpPr>
          <p:cNvPr id="419" name="S419"/>
          <p:cNvSpPr/>
          <p:nvPr/>
        </p:nvSpPr>
        <p:spPr>
          <a:xfrm>
            <a:off x="5994400" y="24765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1A1A2E"/>
                </a:solidFill>
                <a:latin typeface="Inter"/>
              </a:rPr>
              <a:t>Carbs</a:t>
            </a:r>
          </a:p>
        </p:txBody>
      </p:sp>
      <p:sp>
        <p:nvSpPr>
          <p:cNvPr id="420" name="S420"/>
          <p:cNvSpPr/>
          <p:nvPr/>
        </p:nvSpPr>
        <p:spPr>
          <a:xfrm>
            <a:off x="5994400" y="27686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8B5CF6"/>
                </a:solidFill>
                <a:latin typeface="Inter"/>
              </a:rPr>
              <a:t>45 g</a:t>
            </a:r>
          </a:p>
        </p:txBody>
      </p:sp>
      <p:sp>
        <p:nvSpPr>
          <p:cNvPr id="421" name="S421"/>
          <p:cNvSpPr/>
          <p:nvPr/>
        </p:nvSpPr>
        <p:spPr>
          <a:xfrm>
            <a:off x="6502400" y="3149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8B5CF6"/>
                </a:solidFill>
                <a:latin typeface="Inter"/>
              </a:rPr>
              <a:t>#8B5CF6</a:t>
            </a:r>
          </a:p>
        </p:txBody>
      </p:sp>
      <p:sp>
        <p:nvSpPr>
          <p:cNvPr id="422" name="S422"/>
          <p:cNvSpPr/>
          <p:nvPr/>
        </p:nvSpPr>
        <p:spPr>
          <a:xfrm>
            <a:off x="5994400" y="3492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9CA3AF"/>
                </a:solidFill>
                <a:latin typeface="Inter"/>
              </a:rPr>
              <a:t>Purple</a:t>
            </a:r>
          </a:p>
        </p:txBody>
      </p:sp>
      <p:sp>
        <p:nvSpPr>
          <p:cNvPr id="423" name="S423"/>
          <p:cNvSpPr/>
          <p:nvPr/>
        </p:nvSpPr>
        <p:spPr>
          <a:xfrm>
            <a:off x="8737600" y="1397000"/>
            <a:ext cx="25400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24" name="S424"/>
          <p:cNvSpPr/>
          <p:nvPr/>
        </p:nvSpPr>
        <p:spPr>
          <a:xfrm>
            <a:off x="8750300" y="1409700"/>
            <a:ext cx="2514600" cy="762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25" name="S425"/>
          <p:cNvSpPr/>
          <p:nvPr/>
        </p:nvSpPr>
        <p:spPr>
          <a:xfrm>
            <a:off x="9652000" y="1676400"/>
            <a:ext cx="711200" cy="711200"/>
          </a:xfrm>
          <a:prstGeom prst="ellipse">
            <a:avLst/>
          </a:prstGeom>
          <a:solidFill>
            <a:srgbClr val="EC4899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EC4899"/>
                </a:solidFill>
                <a:latin typeface="Inter"/>
              </a:rPr>
              <a:t>F</a:t>
            </a:r>
          </a:p>
        </p:txBody>
      </p:sp>
      <p:sp>
        <p:nvSpPr>
          <p:cNvPr id="426" name="S426"/>
          <p:cNvSpPr/>
          <p:nvPr/>
        </p:nvSpPr>
        <p:spPr>
          <a:xfrm>
            <a:off x="8737600" y="24765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1A1A2E"/>
                </a:solidFill>
                <a:latin typeface="Inter"/>
              </a:rPr>
              <a:t>Fat</a:t>
            </a:r>
          </a:p>
        </p:txBody>
      </p:sp>
      <p:sp>
        <p:nvSpPr>
          <p:cNvPr id="427" name="S427"/>
          <p:cNvSpPr/>
          <p:nvPr/>
        </p:nvSpPr>
        <p:spPr>
          <a:xfrm>
            <a:off x="8737600" y="2768600"/>
            <a:ext cx="254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EC4899"/>
                </a:solidFill>
                <a:latin typeface="Inter"/>
              </a:rPr>
              <a:t>18 g</a:t>
            </a:r>
          </a:p>
        </p:txBody>
      </p:sp>
      <p:sp>
        <p:nvSpPr>
          <p:cNvPr id="428" name="S428"/>
          <p:cNvSpPr/>
          <p:nvPr/>
        </p:nvSpPr>
        <p:spPr>
          <a:xfrm>
            <a:off x="9245600" y="3149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EC4899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EC4899"/>
                </a:solidFill>
                <a:latin typeface="Inter"/>
              </a:rPr>
              <a:t>#EC4899</a:t>
            </a:r>
          </a:p>
        </p:txBody>
      </p:sp>
      <p:sp>
        <p:nvSpPr>
          <p:cNvPr id="429" name="S429"/>
          <p:cNvSpPr/>
          <p:nvPr/>
        </p:nvSpPr>
        <p:spPr>
          <a:xfrm>
            <a:off x="8737600" y="34925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9CA3AF"/>
                </a:solidFill>
                <a:latin typeface="Inter"/>
              </a:rPr>
              <a:t>Pink</a:t>
            </a:r>
          </a:p>
        </p:txBody>
      </p:sp>
      <p:sp>
        <p:nvSpPr>
          <p:cNvPr id="430" name="S430"/>
          <p:cNvSpPr/>
          <p:nvPr/>
        </p:nvSpPr>
        <p:spPr>
          <a:xfrm>
            <a:off x="457200" y="42164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BADGE VARIANTS</a:t>
            </a:r>
          </a:p>
        </p:txBody>
      </p:sp>
      <p:sp>
        <p:nvSpPr>
          <p:cNvPr id="431" name="S431"/>
          <p:cNvSpPr/>
          <p:nvPr/>
        </p:nvSpPr>
        <p:spPr>
          <a:xfrm>
            <a:off x="457200" y="4572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520 kcal</a:t>
            </a:r>
          </a:p>
        </p:txBody>
      </p:sp>
      <p:sp>
        <p:nvSpPr>
          <p:cNvPr id="432" name="S432"/>
          <p:cNvSpPr/>
          <p:nvPr/>
        </p:nvSpPr>
        <p:spPr>
          <a:xfrm>
            <a:off x="1879600" y="4572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32g protein</a:t>
            </a:r>
          </a:p>
        </p:txBody>
      </p:sp>
      <p:sp>
        <p:nvSpPr>
          <p:cNvPr id="433" name="S433"/>
          <p:cNvSpPr/>
          <p:nvPr/>
        </p:nvSpPr>
        <p:spPr>
          <a:xfrm>
            <a:off x="3302000" y="4572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45g carbs</a:t>
            </a:r>
          </a:p>
        </p:txBody>
      </p:sp>
      <p:sp>
        <p:nvSpPr>
          <p:cNvPr id="434" name="S434"/>
          <p:cNvSpPr/>
          <p:nvPr/>
        </p:nvSpPr>
        <p:spPr>
          <a:xfrm>
            <a:off x="4724400" y="4572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/>
              </a:rPr>
              <a:t>18g fat</a:t>
            </a:r>
          </a:p>
        </p:txBody>
      </p:sp>
      <p:sp>
        <p:nvSpPr>
          <p:cNvPr id="435" name="S435"/>
          <p:cNvSpPr/>
          <p:nvPr/>
        </p:nvSpPr>
        <p:spPr>
          <a:xfrm>
            <a:off x="457200" y="5054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59E0B"/>
                </a:solidFill>
                <a:latin typeface="Inter"/>
              </a:rPr>
              <a:t>520 kcal</a:t>
            </a:r>
          </a:p>
        </p:txBody>
      </p:sp>
      <p:sp>
        <p:nvSpPr>
          <p:cNvPr id="436" name="S436"/>
          <p:cNvSpPr/>
          <p:nvPr/>
        </p:nvSpPr>
        <p:spPr>
          <a:xfrm>
            <a:off x="1879600" y="5054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B82F6"/>
                </a:solidFill>
                <a:latin typeface="Inter"/>
              </a:rPr>
              <a:t>32g protein</a:t>
            </a:r>
          </a:p>
        </p:txBody>
      </p:sp>
      <p:sp>
        <p:nvSpPr>
          <p:cNvPr id="437" name="S437"/>
          <p:cNvSpPr/>
          <p:nvPr/>
        </p:nvSpPr>
        <p:spPr>
          <a:xfrm>
            <a:off x="3302000" y="5054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5CF6"/>
                </a:solidFill>
                <a:latin typeface="Inter"/>
              </a:rPr>
              <a:t>45g carbs</a:t>
            </a:r>
          </a:p>
        </p:txBody>
      </p:sp>
      <p:sp>
        <p:nvSpPr>
          <p:cNvPr id="438" name="S438"/>
          <p:cNvSpPr/>
          <p:nvPr/>
        </p:nvSpPr>
        <p:spPr>
          <a:xfrm>
            <a:off x="4724400" y="5054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C4899"/>
                </a:solidFill>
                <a:latin typeface="Inter"/>
              </a:rPr>
              <a:t>18g fat</a:t>
            </a:r>
          </a:p>
        </p:txBody>
      </p:sp>
      <p:sp>
        <p:nvSpPr>
          <p:cNvPr id="439" name="S439"/>
          <p:cNvSpPr/>
          <p:nvPr/>
        </p:nvSpPr>
        <p:spPr>
          <a:xfrm>
            <a:off x="6248400" y="4572000"/>
            <a:ext cx="1270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7280"/>
                </a:solidFill>
                <a:latin typeface="Inter"/>
              </a:rPr>
              <a:t>Filled variant</a:t>
            </a:r>
          </a:p>
        </p:txBody>
      </p:sp>
      <p:sp>
        <p:nvSpPr>
          <p:cNvPr id="440" name="S440"/>
          <p:cNvSpPr/>
          <p:nvPr/>
        </p:nvSpPr>
        <p:spPr>
          <a:xfrm>
            <a:off x="6248400" y="5054600"/>
            <a:ext cx="1270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7280"/>
                </a:solidFill>
                <a:latin typeface="Inter"/>
              </a:rPr>
              <a:t>Tinted variant</a:t>
            </a:r>
          </a:p>
        </p:txBody>
      </p:sp>
      <p:sp>
        <p:nvSpPr>
          <p:cNvPr id="441" name="S441"/>
          <p:cNvSpPr/>
          <p:nvPr/>
        </p:nvSpPr>
        <p:spPr>
          <a:xfrm>
            <a:off x="457200" y="60960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D6A4F"/>
                </a:solidFill>
                <a:latin typeface="Inter"/>
              </a:rPr>
              <a:t>Each nutrient has a dedicated color to build instant recognition across the app</a:t>
            </a:r>
          </a:p>
        </p:txBody>
      </p:sp>
    </p:spTree>
    <p:extLst>
      <p:ext uri="{BB962C8B-B14F-4D97-AF65-F5344CB8AC3E}">
        <p14:creationId xmlns:p14="http://schemas.microsoft.com/office/powerpoint/2010/main" val="97891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0"/>
          <p:cNvSpPr/>
          <p:nvPr/>
        </p:nvSpPr>
        <p:spPr>
          <a:xfrm>
            <a:off x="457200" y="304800"/>
            <a:ext cx="112776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2800" b="1" dirty="0">
                <a:solidFill>
                  <a:srgbClr val="1A1A2E"/>
                </a:solidFill>
                <a:latin typeface="Inter"/>
              </a:rPr>
              <a:t>Styling System Overview</a:t>
            </a:r>
          </a:p>
        </p:txBody>
      </p:sp>
      <p:sp>
        <p:nvSpPr>
          <p:cNvPr id="501" name="S501"/>
          <p:cNvSpPr/>
          <p:nvPr/>
        </p:nvSpPr>
        <p:spPr>
          <a:xfrm>
            <a:off x="457200" y="863600"/>
            <a:ext cx="889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7280"/>
                </a:solidFill>
                <a:latin typeface="Inter"/>
              </a:rPr>
              <a:t>Architecture, toolchain, and token integration workflow</a:t>
            </a:r>
          </a:p>
        </p:txBody>
      </p:sp>
      <p:sp>
        <p:nvSpPr>
          <p:cNvPr id="502" name="S502"/>
          <p:cNvSpPr/>
          <p:nvPr/>
        </p:nvSpPr>
        <p:spPr>
          <a:xfrm>
            <a:off x="457200" y="1397000"/>
            <a:ext cx="3556000" cy="184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03" name="S503"/>
          <p:cNvSpPr/>
          <p:nvPr/>
        </p:nvSpPr>
        <p:spPr>
          <a:xfrm>
            <a:off x="469900" y="1409700"/>
            <a:ext cx="3530600" cy="63500"/>
          </a:xfrm>
          <a:prstGeom prst="rect">
            <a:avLst/>
          </a:prstGeom>
          <a:solidFill>
            <a:srgbClr val="2D6A4F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04" name="S504"/>
          <p:cNvSpPr/>
          <p:nvPr/>
        </p:nvSpPr>
        <p:spPr>
          <a:xfrm>
            <a:off x="660400" y="1600200"/>
            <a:ext cx="1270000" cy="254000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2D6A4F"/>
                </a:solidFill>
                <a:latin typeface="Inter"/>
              </a:rPr>
              <a:t>Framework</a:t>
            </a:r>
          </a:p>
        </p:txBody>
      </p:sp>
      <p:sp>
        <p:nvSpPr>
          <p:cNvPr id="505" name="S505"/>
          <p:cNvSpPr/>
          <p:nvPr/>
        </p:nvSpPr>
        <p:spPr>
          <a:xfrm>
            <a:off x="660400" y="1955800"/>
            <a:ext cx="3149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1A1A2E"/>
                </a:solidFill>
                <a:latin typeface="Consolas"/>
              </a:rPr>
              <a:t>NativeWind 4</a:t>
            </a:r>
          </a:p>
        </p:txBody>
      </p:sp>
      <p:sp>
        <p:nvSpPr>
          <p:cNvPr id="506" name="S506"/>
          <p:cNvSpPr/>
          <p:nvPr/>
        </p:nvSpPr>
        <p:spPr>
          <a:xfrm>
            <a:off x="660400" y="2387600"/>
            <a:ext cx="31496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Tailwind CSS for React Native — utility-first styling with full theme support</a:t>
            </a:r>
          </a:p>
        </p:txBody>
      </p:sp>
      <p:sp>
        <p:nvSpPr>
          <p:cNvPr id="507" name="S507"/>
          <p:cNvSpPr/>
          <p:nvPr/>
        </p:nvSpPr>
        <p:spPr>
          <a:xfrm>
            <a:off x="4216400" y="1397000"/>
            <a:ext cx="3556000" cy="184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08" name="S508"/>
          <p:cNvSpPr/>
          <p:nvPr/>
        </p:nvSpPr>
        <p:spPr>
          <a:xfrm>
            <a:off x="4229100" y="1409700"/>
            <a:ext cx="3530600" cy="63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09" name="S509"/>
          <p:cNvSpPr/>
          <p:nvPr/>
        </p:nvSpPr>
        <p:spPr>
          <a:xfrm>
            <a:off x="4419600" y="1600200"/>
            <a:ext cx="1270000" cy="254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3B82F6"/>
                </a:solidFill>
                <a:latin typeface="Inter"/>
              </a:rPr>
              <a:t>Token Source</a:t>
            </a:r>
          </a:p>
        </p:txBody>
      </p:sp>
      <p:sp>
        <p:nvSpPr>
          <p:cNvPr id="510" name="S510"/>
          <p:cNvSpPr/>
          <p:nvPr/>
        </p:nvSpPr>
        <p:spPr>
          <a:xfrm>
            <a:off x="4419600" y="1955800"/>
            <a:ext cx="3149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1A1A2E"/>
                </a:solidFill>
                <a:latin typeface="Consolas"/>
              </a:rPr>
              <a:t>constants/theme.ts</a:t>
            </a:r>
          </a:p>
        </p:txBody>
      </p:sp>
      <p:sp>
        <p:nvSpPr>
          <p:cNvPr id="511" name="S511"/>
          <p:cNvSpPr/>
          <p:nvPr/>
        </p:nvSpPr>
        <p:spPr>
          <a:xfrm>
            <a:off x="4419600" y="2387600"/>
            <a:ext cx="31496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Single source of truth for all design tokens — colors, spacing, radius, shadows</a:t>
            </a:r>
          </a:p>
        </p:txBody>
      </p:sp>
      <p:sp>
        <p:nvSpPr>
          <p:cNvPr id="512" name="S512"/>
          <p:cNvSpPr/>
          <p:nvPr/>
        </p:nvSpPr>
        <p:spPr>
          <a:xfrm>
            <a:off x="7975600" y="1397000"/>
            <a:ext cx="3556000" cy="184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13" name="S513"/>
          <p:cNvSpPr/>
          <p:nvPr/>
        </p:nvSpPr>
        <p:spPr>
          <a:xfrm>
            <a:off x="7988300" y="1409700"/>
            <a:ext cx="3530600" cy="63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14" name="S514"/>
          <p:cNvSpPr/>
          <p:nvPr/>
        </p:nvSpPr>
        <p:spPr>
          <a:xfrm>
            <a:off x="8178800" y="1600200"/>
            <a:ext cx="12700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8B5CF6"/>
                </a:solidFill>
                <a:latin typeface="Inter"/>
              </a:rPr>
              <a:t>Tailwind Extension</a:t>
            </a:r>
          </a:p>
        </p:txBody>
      </p:sp>
      <p:sp>
        <p:nvSpPr>
          <p:cNvPr id="515" name="S515"/>
          <p:cNvSpPr/>
          <p:nvPr/>
        </p:nvSpPr>
        <p:spPr>
          <a:xfrm>
            <a:off x="8178800" y="1955800"/>
            <a:ext cx="3149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b="1" dirty="0">
                <a:solidFill>
                  <a:srgbClr val="1A1A2E"/>
                </a:solidFill>
                <a:latin typeface="Consolas"/>
              </a:rPr>
              <a:t>tailwind.config.js</a:t>
            </a:r>
          </a:p>
        </p:txBody>
      </p:sp>
      <p:sp>
        <p:nvSpPr>
          <p:cNvPr id="516" name="S516"/>
          <p:cNvSpPr/>
          <p:nvPr/>
        </p:nvSpPr>
        <p:spPr>
          <a:xfrm>
            <a:off x="8178800" y="2387600"/>
            <a:ext cx="31496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Inter"/>
              </a:rPr>
              <a:t>Custom theme registered as primary / primary-light / primary-xlight utilities</a:t>
            </a:r>
          </a:p>
        </p:txBody>
      </p:sp>
      <p:sp>
        <p:nvSpPr>
          <p:cNvPr id="517" name="S517"/>
          <p:cNvSpPr/>
          <p:nvPr/>
        </p:nvSpPr>
        <p:spPr>
          <a:xfrm>
            <a:off x="457200" y="36449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TOKEN FLOW</a:t>
            </a:r>
          </a:p>
        </p:txBody>
      </p:sp>
      <p:sp>
        <p:nvSpPr>
          <p:cNvPr id="518" name="S518"/>
          <p:cNvSpPr/>
          <p:nvPr/>
        </p:nvSpPr>
        <p:spPr>
          <a:xfrm>
            <a:off x="1016000" y="4025900"/>
            <a:ext cx="1905000" cy="635000"/>
          </a:xfrm>
          <a:prstGeom prst="roundRect">
            <a:avLst>
              <a:gd name="adj" fmla="val 10000"/>
            </a:avLst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19" name="S519"/>
          <p:cNvSpPr/>
          <p:nvPr/>
        </p:nvSpPr>
        <p:spPr>
          <a:xfrm>
            <a:off x="1016000" y="4102100"/>
            <a:ext cx="190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onsolas"/>
              </a:rPr>
              <a:t>theme.ts</a:t>
            </a:r>
          </a:p>
        </p:txBody>
      </p:sp>
      <p:sp>
        <p:nvSpPr>
          <p:cNvPr id="520" name="S520"/>
          <p:cNvSpPr/>
          <p:nvPr/>
        </p:nvSpPr>
        <p:spPr>
          <a:xfrm>
            <a:off x="1016000" y="43815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6B7280"/>
                </a:solidFill>
                <a:latin typeface="Inter"/>
              </a:rPr>
              <a:t>Define tokens</a:t>
            </a:r>
          </a:p>
        </p:txBody>
      </p:sp>
      <p:sp>
        <p:nvSpPr>
          <p:cNvPr id="521" name="S521"/>
          <p:cNvSpPr/>
          <p:nvPr/>
        </p:nvSpPr>
        <p:spPr>
          <a:xfrm>
            <a:off x="2971800" y="4229100"/>
            <a:ext cx="508000" cy="228600"/>
          </a:xfrm>
          <a:prstGeom prst="rightArrow">
            <a:avLst/>
          </a:prstGeom>
          <a:solidFill>
            <a:srgbClr val="E5E7EB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22" name="S522"/>
          <p:cNvSpPr/>
          <p:nvPr/>
        </p:nvSpPr>
        <p:spPr>
          <a:xfrm>
            <a:off x="3530600" y="4025900"/>
            <a:ext cx="1905000" cy="635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23" name="S523"/>
          <p:cNvSpPr/>
          <p:nvPr/>
        </p:nvSpPr>
        <p:spPr>
          <a:xfrm>
            <a:off x="3530600" y="4102100"/>
            <a:ext cx="190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/>
              </a:rPr>
              <a:t>tailwind.config</a:t>
            </a:r>
          </a:p>
        </p:txBody>
      </p:sp>
      <p:sp>
        <p:nvSpPr>
          <p:cNvPr id="524" name="S524"/>
          <p:cNvSpPr/>
          <p:nvPr/>
        </p:nvSpPr>
        <p:spPr>
          <a:xfrm>
            <a:off x="3530600" y="43815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6B7280"/>
                </a:solidFill>
                <a:latin typeface="Inter"/>
              </a:rPr>
              <a:t>Register utilities</a:t>
            </a:r>
          </a:p>
        </p:txBody>
      </p:sp>
      <p:sp>
        <p:nvSpPr>
          <p:cNvPr id="525" name="S525"/>
          <p:cNvSpPr/>
          <p:nvPr/>
        </p:nvSpPr>
        <p:spPr>
          <a:xfrm>
            <a:off x="5486400" y="4229100"/>
            <a:ext cx="508000" cy="228600"/>
          </a:xfrm>
          <a:prstGeom prst="rightArrow">
            <a:avLst/>
          </a:prstGeom>
          <a:solidFill>
            <a:srgbClr val="E5E7EB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26" name="S526"/>
          <p:cNvSpPr/>
          <p:nvPr/>
        </p:nvSpPr>
        <p:spPr>
          <a:xfrm>
            <a:off x="6045200" y="4025900"/>
            <a:ext cx="1905000" cy="635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27" name="S527"/>
          <p:cNvSpPr/>
          <p:nvPr/>
        </p:nvSpPr>
        <p:spPr>
          <a:xfrm>
            <a:off x="6045200" y="4102100"/>
            <a:ext cx="190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/>
              </a:rPr>
              <a:t>NativeWind</a:t>
            </a:r>
          </a:p>
        </p:txBody>
      </p:sp>
      <p:sp>
        <p:nvSpPr>
          <p:cNvPr id="528" name="S528"/>
          <p:cNvSpPr/>
          <p:nvPr/>
        </p:nvSpPr>
        <p:spPr>
          <a:xfrm>
            <a:off x="6045200" y="43815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6B7280"/>
                </a:solidFill>
                <a:latin typeface="Inter"/>
              </a:rPr>
              <a:t>Compile classes</a:t>
            </a:r>
          </a:p>
        </p:txBody>
      </p:sp>
      <p:sp>
        <p:nvSpPr>
          <p:cNvPr id="529" name="S529"/>
          <p:cNvSpPr/>
          <p:nvPr/>
        </p:nvSpPr>
        <p:spPr>
          <a:xfrm>
            <a:off x="8001000" y="4229100"/>
            <a:ext cx="508000" cy="228600"/>
          </a:xfrm>
          <a:prstGeom prst="rightArrow">
            <a:avLst/>
          </a:prstGeom>
          <a:solidFill>
            <a:srgbClr val="E5E7EB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30" name="S530"/>
          <p:cNvSpPr/>
          <p:nvPr/>
        </p:nvSpPr>
        <p:spPr>
          <a:xfrm>
            <a:off x="8559800" y="4025900"/>
            <a:ext cx="1905000" cy="6350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 w="12700">
            <a:solidFill>
              <a:srgbClr val="EC4899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31" name="S531"/>
          <p:cNvSpPr/>
          <p:nvPr/>
        </p:nvSpPr>
        <p:spPr>
          <a:xfrm>
            <a:off x="8559800" y="4102100"/>
            <a:ext cx="190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onsolas"/>
              </a:rPr>
              <a:t>Components</a:t>
            </a:r>
          </a:p>
        </p:txBody>
      </p:sp>
      <p:sp>
        <p:nvSpPr>
          <p:cNvPr id="532" name="S532"/>
          <p:cNvSpPr/>
          <p:nvPr/>
        </p:nvSpPr>
        <p:spPr>
          <a:xfrm>
            <a:off x="8559800" y="43815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6B7280"/>
                </a:solidFill>
                <a:latin typeface="Inter"/>
              </a:rPr>
              <a:t>Apply styles</a:t>
            </a:r>
          </a:p>
        </p:txBody>
      </p:sp>
      <p:sp>
        <p:nvSpPr>
          <p:cNvPr id="533" name="S533"/>
          <p:cNvSpPr/>
          <p:nvPr/>
        </p:nvSpPr>
        <p:spPr>
          <a:xfrm>
            <a:off x="457200" y="50673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/>
              </a:rPr>
              <a:t>USAGE EXAMPLE</a:t>
            </a:r>
          </a:p>
        </p:txBody>
      </p:sp>
      <p:sp>
        <p:nvSpPr>
          <p:cNvPr id="534" name="S534"/>
          <p:cNvSpPr/>
          <p:nvPr/>
        </p:nvSpPr>
        <p:spPr>
          <a:xfrm>
            <a:off x="457200" y="5372100"/>
            <a:ext cx="11277600" cy="1016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0"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35" name="S535"/>
          <p:cNvSpPr/>
          <p:nvPr/>
        </p:nvSpPr>
        <p:spPr>
          <a:xfrm>
            <a:off x="660400" y="5448300"/>
            <a:ext cx="10871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7280"/>
                </a:solidFill>
                <a:latin typeface="Consolas"/>
              </a:rPr>
              <a:t>// Component using PlatePlan tokens</a:t>
            </a:r>
          </a:p>
        </p:txBody>
      </p:sp>
      <p:sp>
        <p:nvSpPr>
          <p:cNvPr id="536" name="S536"/>
          <p:cNvSpPr/>
          <p:nvPr/>
        </p:nvSpPr>
        <p:spPr>
          <a:xfrm>
            <a:off x="660400" y="5626100"/>
            <a:ext cx="10871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52B788"/>
                </a:solidFill>
                <a:latin typeface="Consolas"/>
              </a:rPr>
              <a:t>&lt;View className="bg-primary-xlight p-lg rounded-md"&gt;</a:t>
            </a:r>
          </a:p>
        </p:txBody>
      </p:sp>
      <p:sp>
        <p:nvSpPr>
          <p:cNvPr id="537" name="S537"/>
          <p:cNvSpPr/>
          <p:nvPr/>
        </p:nvSpPr>
        <p:spPr>
          <a:xfrm>
            <a:off x="660400" y="5803900"/>
            <a:ext cx="10871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8F3DC"/>
                </a:solidFill>
                <a:latin typeface="Consolas"/>
              </a:rPr>
              <a:t>  &lt;Text className="text-primary font-bold text-xl"&gt;Meal Plan&lt;/Text&gt;</a:t>
            </a:r>
          </a:p>
        </p:txBody>
      </p:sp>
      <p:sp>
        <p:nvSpPr>
          <p:cNvPr id="538" name="S538"/>
          <p:cNvSpPr/>
          <p:nvPr/>
        </p:nvSpPr>
        <p:spPr>
          <a:xfrm>
            <a:off x="660400" y="5981700"/>
            <a:ext cx="10871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59E0B"/>
                </a:solidFill>
                <a:latin typeface="Consolas"/>
              </a:rPr>
              <a:t>  &lt;Badge className="bg-calorie rounded-full px-sm"&gt;520 kcal&lt;/Badge&gt;</a:t>
            </a:r>
          </a:p>
        </p:txBody>
      </p:sp>
      <p:sp>
        <p:nvSpPr>
          <p:cNvPr id="539" name="S539"/>
          <p:cNvSpPr/>
          <p:nvPr/>
        </p:nvSpPr>
        <p:spPr>
          <a:xfrm>
            <a:off x="660400" y="6159500"/>
            <a:ext cx="10871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52B788"/>
                </a:solidFill>
                <a:latin typeface="Consolas"/>
              </a:rPr>
              <a:t>&lt;/View&gt;</a:t>
            </a:r>
          </a:p>
        </p:txBody>
      </p:sp>
    </p:spTree>
    <p:extLst>
      <p:ext uri="{BB962C8B-B14F-4D97-AF65-F5344CB8AC3E}">
        <p14:creationId xmlns:p14="http://schemas.microsoft.com/office/powerpoint/2010/main" val="134955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[1775857080411]">
  <a:themeElements>
    <a:clrScheme name="PlatePlan">
      <a:dk1>
        <a:srgbClr val="1A1A2E"/>
      </a:dk1>
      <a:lt1>
        <a:srgbClr val="FFFFFF"/>
      </a:lt1>
      <a:dk2>
        <a:srgbClr val="6B7280"/>
      </a:dk2>
      <a:lt2>
        <a:srgbClr val="F8F9FA"/>
      </a:lt2>
      <a:accent1>
        <a:srgbClr val="2D6A4F"/>
      </a:accent1>
      <a:accent2>
        <a:srgbClr val="52B788"/>
      </a:accent2>
      <a:accent3>
        <a:srgbClr val="D8F3DC"/>
      </a:accent3>
      <a:accent4>
        <a:srgbClr val="3B82F6"/>
      </a:accent4>
      <a:accent5>
        <a:srgbClr val="8B5CF6"/>
      </a:accent5>
      <a:accent6>
        <a:srgbClr val="EC4899"/>
      </a:accent6>
      <a:hlink>
        <a:srgbClr val="467886"/>
      </a:hlink>
      <a:folHlink>
        <a:srgbClr val="96607D"/>
      </a:folHlink>
    </a:clrScheme>
    <a:fontScheme name="PlatePlan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13A497-B9A5-D340-9783-9DD7CF6C83B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2e6266b-3c21-44e6-8897-6be16b77760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Microsoft Macintosh PowerPoint</Application>
  <PresentationFormat>Breitbild</PresentationFormat>
  <Paragraphs>202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Consolas</vt:lpstr>
      <vt:lpstr>Inter</vt:lpstr>
      <vt:lpstr>Office [1775857080411]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Mats Ruekgauer</dc:creator>
  <cp:lastModifiedBy>Mats Ruekgauer</cp:lastModifiedBy>
  <cp:revision>2</cp:revision>
  <dcterms:created xsi:type="dcterms:W3CDTF">2026-04-10T21:33:20Z</dcterms:created>
  <dcterms:modified xsi:type="dcterms:W3CDTF">2026-04-10T21:44:45Z</dcterms:modified>
</cp:coreProperties>
</file>